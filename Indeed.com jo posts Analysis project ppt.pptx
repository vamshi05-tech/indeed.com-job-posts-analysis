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1"/>
  </p:notesMasterIdLst>
  <p:sldIdLst>
    <p:sldId id="256" r:id="rId2"/>
    <p:sldId id="258" r:id="rId3"/>
    <p:sldId id="260" r:id="rId4"/>
    <p:sldId id="262" r:id="rId5"/>
    <p:sldId id="261" r:id="rId6"/>
    <p:sldId id="266" r:id="rId7"/>
    <p:sldId id="263" r:id="rId8"/>
    <p:sldId id="264" r:id="rId9"/>
    <p:sldId id="267" r:id="rId10"/>
    <p:sldId id="268" r:id="rId11"/>
    <p:sldId id="265" r:id="rId12"/>
    <p:sldId id="269" r:id="rId13"/>
    <p:sldId id="275" r:id="rId14"/>
    <p:sldId id="271" r:id="rId15"/>
    <p:sldId id="274" r:id="rId16"/>
    <p:sldId id="272" r:id="rId17"/>
    <p:sldId id="273" r:id="rId18"/>
    <p:sldId id="276" r:id="rId19"/>
    <p:sldId id="259" r:id="rId20"/>
  </p:sldIdLst>
  <p:sldSz cx="12192000" cy="6858000"/>
  <p:notesSz cx="6858000" cy="9144000"/>
  <p:embeddedFontLst>
    <p:embeddedFont>
      <p:font typeface="Libre Baskerville" panose="02000000000000000000" pitchFamily="2" charset="0"/>
      <p:regular r:id="rId22"/>
      <p:bold r:id="rId23"/>
      <p:italic r:id="rId2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7" roundtripDataSignature="AMtx7mi4HmEECUlll0m8HTY06QsqsmZGG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3.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2.fntdata"/><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1.fntdata"/><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
        <p:nvSpPr>
          <p:cNvPr id="96" name="Google Shape;9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 name="Google Shape;108;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smtClean="0">
                <a:solidFill>
                  <a:schemeClr val="dk1"/>
                </a:solidFill>
                <a:latin typeface="Calibri"/>
                <a:ea typeface="Calibri"/>
                <a:cs typeface="Calibri"/>
                <a:sym typeface="Calibri"/>
              </a:rPr>
              <a:t>5</a:t>
            </a:fld>
            <a:endParaRPr lang="en-IN"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84137154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114" name="Google Shape;11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5"/>
        <p:cNvGrpSpPr/>
        <p:nvPr/>
      </p:nvGrpSpPr>
      <p:grpSpPr>
        <a:xfrm>
          <a:off x="0" y="0"/>
          <a:ext cx="0" cy="0"/>
          <a:chOff x="0" y="0"/>
          <a:chExt cx="0" cy="0"/>
        </a:xfrm>
      </p:grpSpPr>
      <p:sp>
        <p:nvSpPr>
          <p:cNvPr id="16" name="Google Shape;16;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20" name="Google Shape;20;p7"/>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1"/>
        <p:cNvGrpSpPr/>
        <p:nvPr/>
      </p:nvGrpSpPr>
      <p:grpSpPr>
        <a:xfrm>
          <a:off x="0" y="0"/>
          <a:ext cx="0" cy="0"/>
          <a:chOff x="0" y="0"/>
          <a:chExt cx="0" cy="0"/>
        </a:xfrm>
      </p:grpSpPr>
      <p:sp>
        <p:nvSpPr>
          <p:cNvPr id="22" name="Google Shape;22;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25" name="Google Shape;25;p9"/>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6"/>
        <p:cNvGrpSpPr/>
        <p:nvPr/>
      </p:nvGrpSpPr>
      <p:grpSpPr>
        <a:xfrm>
          <a:off x="0" y="0"/>
          <a:ext cx="0" cy="0"/>
          <a:chOff x="0" y="0"/>
          <a:chExt cx="0" cy="0"/>
        </a:xfrm>
      </p:grpSpPr>
      <p:sp>
        <p:nvSpPr>
          <p:cNvPr id="27" name="Google Shape;27;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1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9" name="Google Shape;29;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32" name="Google Shape;32;p10"/>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33"/>
        <p:cNvGrpSpPr/>
        <p:nvPr/>
      </p:nvGrpSpPr>
      <p:grpSpPr>
        <a:xfrm>
          <a:off x="0" y="0"/>
          <a:ext cx="0" cy="0"/>
          <a:chOff x="0" y="0"/>
          <a:chExt cx="0" cy="0"/>
        </a:xfrm>
      </p:grpSpPr>
      <p:sp>
        <p:nvSpPr>
          <p:cNvPr id="34" name="Google Shape;34;p8"/>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8"/>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36" name="Google Shape;36;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39" name="Google Shape;39;p8"/>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0"/>
        <p:cNvGrpSpPr/>
        <p:nvPr/>
      </p:nvGrpSpPr>
      <p:grpSpPr>
        <a:xfrm>
          <a:off x="0" y="0"/>
          <a:ext cx="0" cy="0"/>
          <a:chOff x="0" y="0"/>
          <a:chExt cx="0" cy="0"/>
        </a:xfrm>
      </p:grpSpPr>
      <p:sp>
        <p:nvSpPr>
          <p:cNvPr id="41" name="Google Shape;41;p11"/>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11"/>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43" name="Google Shape;43;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46" name="Google Shape;46;p11"/>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7"/>
        <p:cNvGrpSpPr/>
        <p:nvPr/>
      </p:nvGrpSpPr>
      <p:grpSpPr>
        <a:xfrm>
          <a:off x="0" y="0"/>
          <a:ext cx="0" cy="0"/>
          <a:chOff x="0" y="0"/>
          <a:chExt cx="0" cy="0"/>
        </a:xfrm>
      </p:grpSpPr>
      <p:sp>
        <p:nvSpPr>
          <p:cNvPr id="48" name="Google Shape;48;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12"/>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12"/>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1" name="Google Shape;51;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54" name="Google Shape;54;p12"/>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5"/>
        <p:cNvGrpSpPr/>
        <p:nvPr/>
      </p:nvGrpSpPr>
      <p:grpSpPr>
        <a:xfrm>
          <a:off x="0" y="0"/>
          <a:ext cx="0" cy="0"/>
          <a:chOff x="0" y="0"/>
          <a:chExt cx="0" cy="0"/>
        </a:xfrm>
      </p:grpSpPr>
      <p:sp>
        <p:nvSpPr>
          <p:cNvPr id="56" name="Google Shape;56;p13"/>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13"/>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8" name="Google Shape;58;p13"/>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9" name="Google Shape;59;p13"/>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60" name="Google Shape;60;p13"/>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1" name="Google Shape;61;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64" name="Google Shape;64;p13"/>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5"/>
        <p:cNvGrpSpPr/>
        <p:nvPr/>
      </p:nvGrpSpPr>
      <p:grpSpPr>
        <a:xfrm>
          <a:off x="0" y="0"/>
          <a:ext cx="0" cy="0"/>
          <a:chOff x="0" y="0"/>
          <a:chExt cx="0" cy="0"/>
        </a:xfrm>
      </p:grpSpPr>
      <p:sp>
        <p:nvSpPr>
          <p:cNvPr id="66" name="Google Shape;66;p1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4"/>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8" name="Google Shape;68;p14"/>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72" name="Google Shape;72;p14"/>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3"/>
        <p:cNvGrpSpPr/>
        <p:nvPr/>
      </p:nvGrpSpPr>
      <p:grpSpPr>
        <a:xfrm>
          <a:off x="0" y="0"/>
          <a:ext cx="0" cy="0"/>
          <a:chOff x="0" y="0"/>
          <a:chExt cx="0" cy="0"/>
        </a:xfrm>
      </p:grpSpPr>
      <p:sp>
        <p:nvSpPr>
          <p:cNvPr id="74" name="Google Shape;74;p1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5" name="Google Shape;75;p15"/>
          <p:cNvSpPr>
            <a:spLocks noGrp="1"/>
          </p:cNvSpPr>
          <p:nvPr>
            <p:ph type="pic" idx="2"/>
          </p:nvPr>
        </p:nvSpPr>
        <p:spPr>
          <a:xfrm>
            <a:off x="5183188" y="987425"/>
            <a:ext cx="6172200" cy="4873625"/>
          </a:xfrm>
          <a:prstGeom prst="rect">
            <a:avLst/>
          </a:prstGeom>
          <a:noFill/>
          <a:ln>
            <a:noFill/>
          </a:ln>
        </p:spPr>
      </p:sp>
      <p:sp>
        <p:nvSpPr>
          <p:cNvPr id="76" name="Google Shape;76;p15"/>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7" name="Google Shape;77;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80" name="Google Shape;80;p15"/>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1"/>
        <p:cNvGrpSpPr/>
        <p:nvPr/>
      </p:nvGrpSpPr>
      <p:grpSpPr>
        <a:xfrm>
          <a:off x="0" y="0"/>
          <a:ext cx="0" cy="0"/>
          <a:chOff x="0" y="0"/>
          <a:chExt cx="0" cy="0"/>
        </a:xfrm>
      </p:grpSpPr>
      <p:sp>
        <p:nvSpPr>
          <p:cNvPr id="82" name="Google Shape;82;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16"/>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4" name="Google Shape;84;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6" name="Google Shape;86;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87" name="Google Shape;87;p16"/>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8"/>
        <p:cNvGrpSpPr/>
        <p:nvPr/>
      </p:nvGrpSpPr>
      <p:grpSpPr>
        <a:xfrm>
          <a:off x="0" y="0"/>
          <a:ext cx="0" cy="0"/>
          <a:chOff x="0" y="0"/>
          <a:chExt cx="0" cy="0"/>
        </a:xfrm>
      </p:grpSpPr>
      <p:sp>
        <p:nvSpPr>
          <p:cNvPr id="89" name="Google Shape;89;p17"/>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0" name="Google Shape;90;p17"/>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1" name="Google Shape;91;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3" name="Google Shape;93;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pic>
        <p:nvPicPr>
          <p:cNvPr id="98" name="Google Shape;98;p1"/>
          <p:cNvPicPr preferRelativeResize="0"/>
          <p:nvPr/>
        </p:nvPicPr>
        <p:blipFill rotWithShape="1">
          <a:blip r:embed="rId3">
            <a:alphaModFix/>
          </a:blip>
          <a:srcRect/>
          <a:stretch/>
        </p:blipFill>
        <p:spPr>
          <a:xfrm>
            <a:off x="592" y="0"/>
            <a:ext cx="12190815" cy="6858000"/>
          </a:xfrm>
          <a:prstGeom prst="rect">
            <a:avLst/>
          </a:prstGeom>
          <a:noFill/>
          <a:ln>
            <a:noFill/>
          </a:ln>
        </p:spPr>
      </p:pic>
      <p:sp>
        <p:nvSpPr>
          <p:cNvPr id="2" name="TextBox 1">
            <a:extLst>
              <a:ext uri="{FF2B5EF4-FFF2-40B4-BE49-F238E27FC236}">
                <a16:creationId xmlns:a16="http://schemas.microsoft.com/office/drawing/2014/main" id="{706A386D-0631-BDFB-F38D-981A86A2692E}"/>
              </a:ext>
            </a:extLst>
          </p:cNvPr>
          <p:cNvSpPr txBox="1"/>
          <p:nvPr/>
        </p:nvSpPr>
        <p:spPr>
          <a:xfrm>
            <a:off x="2954981" y="3751118"/>
            <a:ext cx="6915676" cy="707886"/>
          </a:xfrm>
          <a:prstGeom prst="rect">
            <a:avLst/>
          </a:prstGeom>
          <a:noFill/>
        </p:spPr>
        <p:txBody>
          <a:bodyPr wrap="none" rtlCol="0">
            <a:spAutoFit/>
          </a:bodyPr>
          <a:lstStyle/>
          <a:p>
            <a:r>
              <a:rPr lang="en-US" sz="4000" b="1" dirty="0">
                <a:latin typeface="Times New Roman" panose="02020603050405020304" pitchFamily="18" charset="0"/>
                <a:cs typeface="Times New Roman" panose="02020603050405020304" pitchFamily="18" charset="0"/>
              </a:rPr>
              <a:t>Indeed.com Job Posts Analysis</a:t>
            </a:r>
            <a:endParaRPr lang="en-IN" sz="4000" b="1"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A1969B13-3DDE-D736-EA9A-13B35A3AF300}"/>
              </a:ext>
            </a:extLst>
          </p:cNvPr>
          <p:cNvSpPr txBox="1"/>
          <p:nvPr/>
        </p:nvSpPr>
        <p:spPr>
          <a:xfrm>
            <a:off x="9212826" y="4562022"/>
            <a:ext cx="2621230" cy="2431435"/>
          </a:xfrm>
          <a:prstGeom prst="rect">
            <a:avLst/>
          </a:prstGeom>
          <a:noFill/>
        </p:spPr>
        <p:txBody>
          <a:bodyPr wrap="none" rtlCol="0">
            <a:spAutoFit/>
          </a:bodyPr>
          <a:lstStyle/>
          <a:p>
            <a:pPr>
              <a:lnSpc>
                <a:spcPct val="150000"/>
              </a:lnSpc>
            </a:pPr>
            <a:r>
              <a:rPr lang="en-US" sz="2400" b="1" dirty="0">
                <a:solidFill>
                  <a:srgbClr val="FF0000"/>
                </a:solidFill>
                <a:latin typeface="Times New Roman" panose="02020603050405020304" pitchFamily="18" charset="0"/>
                <a:cs typeface="Times New Roman" panose="02020603050405020304" pitchFamily="18" charset="0"/>
              </a:rPr>
              <a:t>Presented By:</a:t>
            </a:r>
          </a:p>
          <a:p>
            <a:pPr>
              <a:lnSpc>
                <a:spcPct val="150000"/>
              </a:lnSpc>
            </a:pPr>
            <a:r>
              <a:rPr lang="en-US" sz="1800" dirty="0"/>
              <a:t>Vamshi Darshanam</a:t>
            </a:r>
          </a:p>
          <a:p>
            <a:r>
              <a:rPr lang="en-US" sz="1800" dirty="0">
                <a:latin typeface="Times New Roman" panose="02020603050405020304" pitchFamily="18" charset="0"/>
                <a:ea typeface="Lato Black" panose="020F0502020204030203" pitchFamily="34" charset="0"/>
                <a:cs typeface="Times New Roman" panose="02020603050405020304" pitchFamily="18" charset="0"/>
              </a:rPr>
              <a:t>Batch No.: 442</a:t>
            </a:r>
          </a:p>
          <a:p>
            <a:r>
              <a:rPr lang="en-US" sz="1800" dirty="0" err="1">
                <a:latin typeface="Times New Roman" panose="02020603050405020304" pitchFamily="18" charset="0"/>
                <a:ea typeface="Calibri" panose="020F0502020204030204" pitchFamily="34" charset="0"/>
                <a:cs typeface="Times New Roman" panose="02020603050405020304" pitchFamily="18" charset="0"/>
              </a:rPr>
              <a:t>Innomatics</a:t>
            </a:r>
            <a:r>
              <a:rPr lang="en-US" sz="1800" dirty="0">
                <a:latin typeface="Times New Roman" panose="02020603050405020304" pitchFamily="18" charset="0"/>
                <a:ea typeface="Calibri" panose="020F0502020204030204" pitchFamily="34" charset="0"/>
                <a:cs typeface="Times New Roman" panose="02020603050405020304" pitchFamily="18" charset="0"/>
              </a:rPr>
              <a:t> Research Labs</a:t>
            </a:r>
          </a:p>
          <a:p>
            <a:r>
              <a:rPr lang="en-US" sz="1800" dirty="0" err="1">
                <a:latin typeface="Times New Roman" panose="02020603050405020304" pitchFamily="18" charset="0"/>
                <a:ea typeface="Calibri" panose="020F0502020204030204" pitchFamily="34" charset="0"/>
                <a:cs typeface="Times New Roman" panose="02020603050405020304" pitchFamily="18" charset="0"/>
              </a:rPr>
              <a:t>Dilsukhnagar</a:t>
            </a:r>
            <a:endParaRPr lang="en-IN" sz="1800" dirty="0">
              <a:latin typeface="Times New Roman" panose="02020603050405020304" pitchFamily="18" charset="0"/>
              <a:ea typeface="Calibri" panose="020F0502020204030204" pitchFamily="34" charset="0"/>
              <a:cs typeface="Times New Roman" panose="02020603050405020304" pitchFamily="18" charset="0"/>
            </a:endParaRPr>
          </a:p>
          <a:p>
            <a:pPr>
              <a:lnSpc>
                <a:spcPct val="150000"/>
              </a:lnSpc>
            </a:pPr>
            <a:endParaRPr lang="en-US" dirty="0"/>
          </a:p>
          <a:p>
            <a:endParaRPr lang="en-IN"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4"/>
          <p:cNvSpPr txBox="1">
            <a:spLocks noGrp="1"/>
          </p:cNvSpPr>
          <p:nvPr>
            <p:ph type="title"/>
          </p:nvPr>
        </p:nvSpPr>
        <p:spPr>
          <a:xfrm>
            <a:off x="208472" y="1825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0000"/>
              </a:buClr>
              <a:buSzPts val="4400"/>
              <a:buFont typeface="Calibri"/>
              <a:buNone/>
            </a:pPr>
            <a:r>
              <a:rPr lang="en-IN" b="1">
                <a:solidFill>
                  <a:srgbClr val="FF0000"/>
                </a:solidFill>
              </a:rPr>
              <a:t>Agenda (This should be the PPT flow)  </a:t>
            </a:r>
            <a:endParaRPr b="1">
              <a:solidFill>
                <a:srgbClr val="FF0000"/>
              </a:solidFill>
            </a:endParaRPr>
          </a:p>
        </p:txBody>
      </p:sp>
      <p:sp>
        <p:nvSpPr>
          <p:cNvPr id="111" name="Google Shape;111;p4"/>
          <p:cNvSpPr txBox="1">
            <a:spLocks noGrp="1"/>
          </p:cNvSpPr>
          <p:nvPr>
            <p:ph type="body" idx="1"/>
          </p:nvPr>
        </p:nvSpPr>
        <p:spPr>
          <a:xfrm>
            <a:off x="684880" y="1493134"/>
            <a:ext cx="10515600" cy="4777234"/>
          </a:xfrm>
          <a:prstGeom prst="rect">
            <a:avLst/>
          </a:prstGeom>
          <a:noFill/>
          <a:ln>
            <a:noFill/>
          </a:ln>
        </p:spPr>
        <p:txBody>
          <a:bodyPr spcFirstLastPara="1" wrap="square" lIns="91425" tIns="45700" rIns="91425" bIns="45700" anchor="t" anchorCtr="0">
            <a:normAutofit/>
          </a:bodyPr>
          <a:lstStyle/>
          <a:p>
            <a:pPr marL="457200" lvl="0" indent="-431800" algn="l" rtl="0">
              <a:lnSpc>
                <a:spcPct val="90000"/>
              </a:lnSpc>
              <a:spcBef>
                <a:spcPts val="1000"/>
              </a:spcBef>
              <a:spcAft>
                <a:spcPts val="0"/>
              </a:spcAft>
              <a:buSzPts val="2400"/>
              <a:buChar char="•"/>
            </a:pPr>
            <a:r>
              <a:rPr lang="en-US" sz="2400" b="1" dirty="0">
                <a:latin typeface="Times New Roman" panose="02020603050405020304" pitchFamily="18" charset="0"/>
                <a:cs typeface="Times New Roman" panose="02020603050405020304" pitchFamily="18" charset="0"/>
              </a:rPr>
              <a:t>Business Problem</a:t>
            </a:r>
          </a:p>
          <a:p>
            <a:pPr indent="-431800">
              <a:buSzPts val="2400"/>
            </a:pPr>
            <a:r>
              <a:rPr lang="en-US" sz="2400" b="1" dirty="0">
                <a:latin typeface="Times New Roman" panose="02020603050405020304" pitchFamily="18" charset="0"/>
                <a:cs typeface="Times New Roman" panose="02020603050405020304" pitchFamily="18" charset="0"/>
              </a:rPr>
              <a:t>Problem Statement</a:t>
            </a:r>
          </a:p>
          <a:p>
            <a:pPr marL="457200" lvl="0" indent="-431800" algn="l" rtl="0">
              <a:lnSpc>
                <a:spcPct val="90000"/>
              </a:lnSpc>
              <a:spcBef>
                <a:spcPts val="1000"/>
              </a:spcBef>
              <a:spcAft>
                <a:spcPts val="0"/>
              </a:spcAft>
              <a:buSzPts val="2400"/>
              <a:buChar char="•"/>
            </a:pPr>
            <a:r>
              <a:rPr lang="en-US" sz="2400" b="1" dirty="0">
                <a:latin typeface="Times New Roman" panose="02020603050405020304" pitchFamily="18" charset="0"/>
                <a:cs typeface="Times New Roman" panose="02020603050405020304" pitchFamily="18" charset="0"/>
              </a:rPr>
              <a:t>Business Objective</a:t>
            </a:r>
          </a:p>
          <a:p>
            <a:pPr marL="457200" lvl="0" indent="-431800" algn="l" rtl="0">
              <a:lnSpc>
                <a:spcPct val="90000"/>
              </a:lnSpc>
              <a:spcBef>
                <a:spcPts val="1000"/>
              </a:spcBef>
              <a:spcAft>
                <a:spcPts val="0"/>
              </a:spcAft>
              <a:buSzPts val="2400"/>
              <a:buChar char="•"/>
            </a:pPr>
            <a:r>
              <a:rPr lang="en-US" sz="2400" b="1" dirty="0">
                <a:latin typeface="Times New Roman" panose="02020603050405020304" pitchFamily="18" charset="0"/>
                <a:cs typeface="Times New Roman" panose="02020603050405020304" pitchFamily="18" charset="0"/>
              </a:rPr>
              <a:t>Data Preprocessing</a:t>
            </a:r>
          </a:p>
          <a:p>
            <a:pPr marL="457200" lvl="0" indent="-431800" algn="l" rtl="0">
              <a:lnSpc>
                <a:spcPct val="90000"/>
              </a:lnSpc>
              <a:spcBef>
                <a:spcPts val="1000"/>
              </a:spcBef>
              <a:spcAft>
                <a:spcPts val="0"/>
              </a:spcAft>
              <a:buSzPts val="2400"/>
              <a:buChar char="•"/>
            </a:pPr>
            <a:r>
              <a:rPr lang="en-US" sz="2400" b="1" dirty="0">
                <a:latin typeface="Times New Roman" panose="02020603050405020304" pitchFamily="18" charset="0"/>
                <a:cs typeface="Times New Roman" panose="02020603050405020304" pitchFamily="18" charset="0"/>
              </a:rPr>
              <a:t>Analysis and Interpretation</a:t>
            </a:r>
          </a:p>
          <a:p>
            <a:pPr marL="457200" lvl="0" indent="-431800" algn="l" rtl="0">
              <a:lnSpc>
                <a:spcPct val="90000"/>
              </a:lnSpc>
              <a:spcBef>
                <a:spcPts val="1000"/>
              </a:spcBef>
              <a:spcAft>
                <a:spcPts val="0"/>
              </a:spcAft>
              <a:buSzPts val="2400"/>
              <a:buChar char="•"/>
            </a:pPr>
            <a:r>
              <a:rPr lang="en-US" sz="2400" b="1" dirty="0">
                <a:latin typeface="Times New Roman" panose="02020603050405020304" pitchFamily="18" charset="0"/>
                <a:cs typeface="Times New Roman" panose="02020603050405020304" pitchFamily="18" charset="0"/>
              </a:rPr>
              <a:t>Hypothesis Testing</a:t>
            </a:r>
          </a:p>
          <a:p>
            <a:pPr marL="457200" lvl="0" indent="-431800" algn="l" rtl="0">
              <a:lnSpc>
                <a:spcPct val="90000"/>
              </a:lnSpc>
              <a:spcBef>
                <a:spcPts val="1000"/>
              </a:spcBef>
              <a:spcAft>
                <a:spcPts val="0"/>
              </a:spcAft>
              <a:buSzPts val="2400"/>
              <a:buChar char="•"/>
            </a:pPr>
            <a:r>
              <a:rPr lang="en-US" sz="2400" b="1" dirty="0">
                <a:latin typeface="Times New Roman" panose="02020603050405020304" pitchFamily="18" charset="0"/>
                <a:cs typeface="Times New Roman" panose="02020603050405020304" pitchFamily="18" charset="0"/>
              </a:rPr>
              <a:t>Business Insights &amp; Recommendations</a:t>
            </a:r>
          </a:p>
          <a:p>
            <a:pPr marL="457200" lvl="0" indent="-431800" algn="l" rtl="0">
              <a:lnSpc>
                <a:spcPct val="90000"/>
              </a:lnSpc>
              <a:spcBef>
                <a:spcPts val="1000"/>
              </a:spcBef>
              <a:spcAft>
                <a:spcPts val="0"/>
              </a:spcAft>
              <a:buSzPts val="2400"/>
              <a:buChar char="•"/>
            </a:pPr>
            <a:r>
              <a:rPr lang="en-US" sz="2400" b="1" dirty="0">
                <a:latin typeface="Times New Roman" panose="02020603050405020304" pitchFamily="18" charset="0"/>
                <a:cs typeface="Times New Roman" panose="02020603050405020304" pitchFamily="18" charset="0"/>
              </a:rPr>
              <a:t>Challenges</a:t>
            </a:r>
          </a:p>
          <a:p>
            <a:pPr marL="457200" lvl="0" indent="-431800" algn="l" rtl="0">
              <a:lnSpc>
                <a:spcPct val="90000"/>
              </a:lnSpc>
              <a:spcBef>
                <a:spcPts val="1000"/>
              </a:spcBef>
              <a:spcAft>
                <a:spcPts val="0"/>
              </a:spcAft>
              <a:buSzPts val="2400"/>
              <a:buChar char="•"/>
            </a:pPr>
            <a:r>
              <a:rPr lang="en-US" sz="2400" b="1" dirty="0">
                <a:latin typeface="Times New Roman" panose="02020603050405020304" pitchFamily="18" charset="0"/>
                <a:cs typeface="Times New Roman" panose="02020603050405020304" pitchFamily="18" charset="0"/>
              </a:rPr>
              <a:t>Conclusion</a:t>
            </a:r>
            <a:endParaRPr sz="2400" b="1" dirty="0">
              <a:latin typeface="Times New Roman" panose="02020603050405020304" pitchFamily="18" charset="0"/>
              <a:cs typeface="Times New Roman" panose="02020603050405020304" pitchFamily="18" charset="0"/>
            </a:endParaRPr>
          </a:p>
          <a:p>
            <a:pPr marL="457200" lvl="0" indent="-431800" algn="l" rtl="0">
              <a:lnSpc>
                <a:spcPct val="90000"/>
              </a:lnSpc>
              <a:spcBef>
                <a:spcPts val="1000"/>
              </a:spcBef>
              <a:spcAft>
                <a:spcPts val="0"/>
              </a:spcAft>
              <a:buSzPts val="2400"/>
              <a:buChar char="•"/>
            </a:pPr>
            <a:endParaRPr lang="en-IN" sz="2400" b="1" dirty="0"/>
          </a:p>
          <a:p>
            <a:pPr marL="0" lvl="0" indent="0" algn="l" rtl="0">
              <a:lnSpc>
                <a:spcPct val="90000"/>
              </a:lnSpc>
              <a:spcBef>
                <a:spcPts val="1000"/>
              </a:spcBef>
              <a:spcAft>
                <a:spcPts val="0"/>
              </a:spcAft>
              <a:buClr>
                <a:schemeClr val="dk1"/>
              </a:buClr>
              <a:buSzPts val="2800"/>
              <a:buNone/>
            </a:pP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7F123E-C89D-7272-790D-D07A55959866}"/>
              </a:ext>
            </a:extLst>
          </p:cNvPr>
          <p:cNvSpPr>
            <a:spLocks noGrp="1"/>
          </p:cNvSpPr>
          <p:nvPr>
            <p:ph type="title"/>
          </p:nvPr>
        </p:nvSpPr>
        <p:spPr>
          <a:xfrm>
            <a:off x="480551" y="171195"/>
            <a:ext cx="10515600" cy="966172"/>
          </a:xfrm>
        </p:spPr>
        <p:txBody>
          <a:bodyPr>
            <a:normAutofit/>
          </a:bodyPr>
          <a:lstStyle/>
          <a:p>
            <a:r>
              <a:rPr lang="en-US" sz="3200" b="1" dirty="0">
                <a:solidFill>
                  <a:srgbClr val="FF0000"/>
                </a:solidFill>
                <a:latin typeface="Times New Roman" panose="02020603050405020304" pitchFamily="18" charset="0"/>
                <a:cs typeface="Times New Roman" panose="02020603050405020304" pitchFamily="18" charset="0"/>
              </a:rPr>
              <a:t>Business Problem</a:t>
            </a:r>
            <a:endParaRPr lang="en-IN" sz="3200" b="1" dirty="0">
              <a:solidFill>
                <a:srgbClr val="FF0000"/>
              </a:solidFill>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BF1C9D41-2BB0-D092-2203-3C9E7D0DF7EB}"/>
              </a:ext>
            </a:extLst>
          </p:cNvPr>
          <p:cNvSpPr>
            <a:spLocks noGrp="1"/>
          </p:cNvSpPr>
          <p:nvPr>
            <p:ph type="body" idx="1"/>
          </p:nvPr>
        </p:nvSpPr>
        <p:spPr>
          <a:xfrm>
            <a:off x="480551" y="1039045"/>
            <a:ext cx="10036277" cy="4351338"/>
          </a:xfrm>
        </p:spPr>
        <p:txBody>
          <a:bodyPr>
            <a:normAutofit/>
          </a:bodyPr>
          <a:lstStyle/>
          <a:p>
            <a:pPr marL="114300" indent="0" algn="just">
              <a:buNone/>
            </a:pPr>
            <a:r>
              <a:rPr lang="en-US" sz="2400" dirty="0">
                <a:latin typeface="Times New Roman" panose="02020603050405020304" pitchFamily="18" charset="0"/>
                <a:cs typeface="Times New Roman" panose="02020603050405020304" pitchFamily="18" charset="0"/>
              </a:rPr>
              <a:t>The job market is rapidly evolving, driven by technological advancements, shifting industry demands, and changing workforce expectations. Job seekers face challenges in understanding which roles, skills, and locations offer the best career opportunities. Without reliable insights, both employers and professionals risk making uninformed decisions that lead to talent gaps, inefficient hiring, and missed career growth opportunities.</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845755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BA6824-8252-8DBF-D126-16BBFCFB84E9}"/>
              </a:ext>
            </a:extLst>
          </p:cNvPr>
          <p:cNvSpPr>
            <a:spLocks noGrp="1"/>
          </p:cNvSpPr>
          <p:nvPr>
            <p:ph type="title"/>
          </p:nvPr>
        </p:nvSpPr>
        <p:spPr>
          <a:xfrm>
            <a:off x="730045" y="262296"/>
            <a:ext cx="10515600" cy="845574"/>
          </a:xfrm>
        </p:spPr>
        <p:txBody>
          <a:bodyPr>
            <a:normAutofit/>
          </a:bodyPr>
          <a:lstStyle/>
          <a:p>
            <a:r>
              <a:rPr lang="en-US" sz="3200" b="1" dirty="0">
                <a:solidFill>
                  <a:srgbClr val="FF0000"/>
                </a:solidFill>
                <a:latin typeface="Times New Roman" panose="02020603050405020304" pitchFamily="18" charset="0"/>
                <a:cs typeface="Times New Roman" panose="02020603050405020304" pitchFamily="18" charset="0"/>
              </a:rPr>
              <a:t>Problem Statement</a:t>
            </a:r>
            <a:endParaRPr lang="en-IN" sz="3200" b="1" dirty="0">
              <a:solidFill>
                <a:srgbClr val="FF0000"/>
              </a:solidFill>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4D8EC5CD-39C5-9A62-6D15-01B6CB915325}"/>
              </a:ext>
            </a:extLst>
          </p:cNvPr>
          <p:cNvSpPr>
            <a:spLocks noGrp="1"/>
          </p:cNvSpPr>
          <p:nvPr>
            <p:ph type="body" idx="1"/>
          </p:nvPr>
        </p:nvSpPr>
        <p:spPr>
          <a:xfrm>
            <a:off x="627253" y="1107870"/>
            <a:ext cx="5163948" cy="4063898"/>
          </a:xfrm>
        </p:spPr>
        <p:txBody>
          <a:bodyPr>
            <a:normAutofit/>
          </a:bodyPr>
          <a:lstStyle/>
          <a:p>
            <a:pPr marL="114300" indent="0" algn="just">
              <a:buNone/>
            </a:pPr>
            <a:r>
              <a:rPr lang="en-US" sz="2400" dirty="0">
                <a:latin typeface="Times New Roman" panose="02020603050405020304" pitchFamily="18" charset="0"/>
                <a:cs typeface="Times New Roman" panose="02020603050405020304" pitchFamily="18" charset="0"/>
              </a:rPr>
              <a:t>There is a lack of structured, data-driven insights into current job market trends. Job seekers lack clarity on the most promising career paths, salary expectations, and skill requirements. By analyzing job postings data from platforms like Indeed.com, actionable insights can be generated to bridge this gap, enabling job seekers to make informed career decisions</a:t>
            </a:r>
            <a:r>
              <a:rPr lang="en-US" sz="2400" dirty="0"/>
              <a:t>.</a:t>
            </a:r>
            <a:endParaRPr lang="en-IN" sz="2400" dirty="0"/>
          </a:p>
        </p:txBody>
      </p:sp>
      <p:pic>
        <p:nvPicPr>
          <p:cNvPr id="5" name="Picture 4">
            <a:extLst>
              <a:ext uri="{FF2B5EF4-FFF2-40B4-BE49-F238E27FC236}">
                <a16:creationId xmlns:a16="http://schemas.microsoft.com/office/drawing/2014/main" id="{06D1A04B-4DFB-8394-7A53-E7A380A03797}"/>
              </a:ext>
            </a:extLst>
          </p:cNvPr>
          <p:cNvPicPr>
            <a:picLocks noChangeAspect="1"/>
          </p:cNvPicPr>
          <p:nvPr/>
        </p:nvPicPr>
        <p:blipFill>
          <a:blip r:embed="rId2"/>
          <a:stretch>
            <a:fillRect/>
          </a:stretch>
        </p:blipFill>
        <p:spPr>
          <a:xfrm>
            <a:off x="6469627" y="1327356"/>
            <a:ext cx="4880076" cy="2661860"/>
          </a:xfrm>
          <a:prstGeom prst="rect">
            <a:avLst/>
          </a:prstGeom>
        </p:spPr>
      </p:pic>
    </p:spTree>
    <p:extLst>
      <p:ext uri="{BB962C8B-B14F-4D97-AF65-F5344CB8AC3E}">
        <p14:creationId xmlns:p14="http://schemas.microsoft.com/office/powerpoint/2010/main" val="986103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40A074-8D2A-EDA5-820E-19E070BC03E6}"/>
              </a:ext>
            </a:extLst>
          </p:cNvPr>
          <p:cNvSpPr>
            <a:spLocks noGrp="1"/>
          </p:cNvSpPr>
          <p:nvPr>
            <p:ph type="title"/>
          </p:nvPr>
        </p:nvSpPr>
        <p:spPr>
          <a:xfrm>
            <a:off x="484239" y="230459"/>
            <a:ext cx="10515600" cy="1063293"/>
          </a:xfrm>
        </p:spPr>
        <p:txBody>
          <a:bodyPr>
            <a:normAutofit/>
          </a:bodyPr>
          <a:lstStyle/>
          <a:p>
            <a:r>
              <a:rPr lang="en-US" sz="3200" b="1" dirty="0">
                <a:solidFill>
                  <a:srgbClr val="FF0000"/>
                </a:solidFill>
                <a:latin typeface="Times New Roman" panose="02020603050405020304" pitchFamily="18" charset="0"/>
                <a:cs typeface="Times New Roman" panose="02020603050405020304" pitchFamily="18" charset="0"/>
              </a:rPr>
              <a:t>Business Objectives</a:t>
            </a:r>
            <a:endParaRPr lang="en-IN" sz="3200" b="1" dirty="0">
              <a:solidFill>
                <a:srgbClr val="FF0000"/>
              </a:solidFill>
              <a:latin typeface="Times New Roman" panose="02020603050405020304" pitchFamily="18" charset="0"/>
              <a:cs typeface="Times New Roman" panose="02020603050405020304" pitchFamily="18" charset="0"/>
            </a:endParaRPr>
          </a:p>
        </p:txBody>
      </p:sp>
      <p:sp>
        <p:nvSpPr>
          <p:cNvPr id="4" name="Rectangle 1">
            <a:extLst>
              <a:ext uri="{FF2B5EF4-FFF2-40B4-BE49-F238E27FC236}">
                <a16:creationId xmlns:a16="http://schemas.microsoft.com/office/drawing/2014/main" id="{CAC35B13-4536-92C8-3A29-49A9E48B8D21}"/>
              </a:ext>
            </a:extLst>
          </p:cNvPr>
          <p:cNvSpPr>
            <a:spLocks noGrp="1" noChangeArrowheads="1"/>
          </p:cNvSpPr>
          <p:nvPr>
            <p:ph type="body" idx="1"/>
          </p:nvPr>
        </p:nvSpPr>
        <p:spPr bwMode="auto">
          <a:xfrm>
            <a:off x="553065" y="1185070"/>
            <a:ext cx="10515600"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algn="just" eaLnBrk="0" fontAlgn="base" hangingPunct="0">
              <a:lnSpc>
                <a:spcPct val="100000"/>
              </a:lnSpc>
              <a:spcBef>
                <a:spcPct val="0"/>
              </a:spcBef>
              <a:spcAft>
                <a:spcPct val="0"/>
              </a:spcAft>
              <a:buClrTx/>
              <a:buSzTx/>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Analyze job demand to identify the most in-demand roles, industries, and companies hiring across multiple positions.</a:t>
            </a:r>
          </a:p>
          <a:p>
            <a:pPr marL="342900" algn="just" eaLnBrk="0" fontAlgn="base" hangingPunct="0">
              <a:lnSpc>
                <a:spcPct val="100000"/>
              </a:lnSpc>
              <a:spcBef>
                <a:spcPct val="0"/>
              </a:spcBef>
              <a:spcAft>
                <a:spcPct val="0"/>
              </a:spcAft>
              <a:buClrTx/>
              <a:buSzTx/>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Examine salary trends by job role, experience level, and location to understand compensation patterns.</a:t>
            </a:r>
          </a:p>
          <a:p>
            <a:pPr marL="342900" algn="just" eaLnBrk="0" fontAlgn="base" hangingPunct="0">
              <a:lnSpc>
                <a:spcPct val="100000"/>
              </a:lnSpc>
              <a:spcBef>
                <a:spcPct val="0"/>
              </a:spcBef>
              <a:spcAft>
                <a:spcPct val="0"/>
              </a:spcAft>
              <a:buClrTx/>
              <a:buSzTx/>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Identify the most sought-after skills for each role and assess demand for emerging technologies such as AI, Cloud, and BI.</a:t>
            </a:r>
          </a:p>
          <a:p>
            <a:pPr marL="342900" algn="just" eaLnBrk="0" fontAlgn="base" hangingPunct="0">
              <a:lnSpc>
                <a:spcPct val="100000"/>
              </a:lnSpc>
              <a:spcBef>
                <a:spcPct val="0"/>
              </a:spcBef>
              <a:spcAft>
                <a:spcPct val="0"/>
              </a:spcAft>
              <a:buClrTx/>
              <a:buSzTx/>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Perform location-based analysis to determine regions with the highest job availability and salary variations.</a:t>
            </a:r>
          </a:p>
          <a:p>
            <a:pPr marL="342900" algn="just" eaLnBrk="0" fontAlgn="base" hangingPunct="0">
              <a:lnSpc>
                <a:spcPct val="100000"/>
              </a:lnSpc>
              <a:spcBef>
                <a:spcPct val="0"/>
              </a:spcBef>
              <a:spcAft>
                <a:spcPct val="0"/>
              </a:spcAft>
              <a:buClrTx/>
              <a:buSzTx/>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Provide actionable recommendations to job seekers on skill development.</a:t>
            </a:r>
            <a:endParaRPr kumimoji="0" lang="en-US" altLang="en-US" sz="24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9230197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E3FA73-481C-A419-368E-9BE6F7639DF4}"/>
              </a:ext>
            </a:extLst>
          </p:cNvPr>
          <p:cNvSpPr>
            <a:spLocks noGrp="1"/>
          </p:cNvSpPr>
          <p:nvPr>
            <p:ph type="title"/>
          </p:nvPr>
        </p:nvSpPr>
        <p:spPr>
          <a:xfrm>
            <a:off x="838200" y="108155"/>
            <a:ext cx="10515600" cy="1032388"/>
          </a:xfrm>
        </p:spPr>
        <p:txBody>
          <a:bodyPr>
            <a:normAutofit fontScale="90000"/>
          </a:bodyPr>
          <a:lstStyle/>
          <a:p>
            <a:br>
              <a:rPr lang="en-US" sz="3200" b="1" dirty="0">
                <a:solidFill>
                  <a:srgbClr val="FF0000"/>
                </a:solidFill>
                <a:latin typeface="Times New Roman" panose="02020603050405020304" pitchFamily="18" charset="0"/>
                <a:cs typeface="Times New Roman" panose="02020603050405020304" pitchFamily="18" charset="0"/>
              </a:rPr>
            </a:br>
            <a:r>
              <a:rPr lang="en-US" sz="3600" b="1" dirty="0">
                <a:solidFill>
                  <a:srgbClr val="FF0000"/>
                </a:solidFill>
                <a:latin typeface="Times New Roman" panose="02020603050405020304" pitchFamily="18" charset="0"/>
                <a:cs typeface="Times New Roman" panose="02020603050405020304" pitchFamily="18" charset="0"/>
              </a:rPr>
              <a:t>Data Preprocessing</a:t>
            </a:r>
            <a:br>
              <a:rPr lang="en-US" sz="3600" b="1" dirty="0">
                <a:latin typeface="Times New Roman" panose="02020603050405020304" pitchFamily="18" charset="0"/>
                <a:cs typeface="Times New Roman" panose="02020603050405020304" pitchFamily="18" charset="0"/>
              </a:rPr>
            </a:br>
            <a:endParaRPr lang="en-IN" sz="3600" dirty="0"/>
          </a:p>
        </p:txBody>
      </p:sp>
      <p:sp>
        <p:nvSpPr>
          <p:cNvPr id="3" name="Text Placeholder 2">
            <a:extLst>
              <a:ext uri="{FF2B5EF4-FFF2-40B4-BE49-F238E27FC236}">
                <a16:creationId xmlns:a16="http://schemas.microsoft.com/office/drawing/2014/main" id="{54550673-100B-D209-7EF4-9F9672791B30}"/>
              </a:ext>
            </a:extLst>
          </p:cNvPr>
          <p:cNvSpPr>
            <a:spLocks noGrp="1"/>
          </p:cNvSpPr>
          <p:nvPr>
            <p:ph type="body" idx="1"/>
          </p:nvPr>
        </p:nvSpPr>
        <p:spPr>
          <a:xfrm>
            <a:off x="838200" y="1012723"/>
            <a:ext cx="10515600" cy="5663380"/>
          </a:xfrm>
        </p:spPr>
        <p:txBody>
          <a:bodyPr>
            <a:noAutofit/>
          </a:bodyPr>
          <a:lstStyle/>
          <a:p>
            <a:pPr algn="just"/>
            <a:r>
              <a:rPr lang="en-US" sz="2400" dirty="0">
                <a:latin typeface="Times New Roman" panose="02020603050405020304" pitchFamily="18" charset="0"/>
                <a:cs typeface="Times New Roman" panose="02020603050405020304" pitchFamily="18" charset="0"/>
              </a:rPr>
              <a:t>Handled missing values by identifying jobs with unavailable salary, rating, experience, or skills and assigning None/</a:t>
            </a:r>
            <a:r>
              <a:rPr lang="en-US" sz="2400" dirty="0" err="1">
                <a:latin typeface="Times New Roman" panose="02020603050405020304" pitchFamily="18" charset="0"/>
                <a:cs typeface="Times New Roman" panose="02020603050405020304" pitchFamily="18" charset="0"/>
              </a:rPr>
              <a:t>NaN</a:t>
            </a:r>
            <a:r>
              <a:rPr lang="en-US" sz="2400" dirty="0">
                <a:latin typeface="Times New Roman" panose="02020603050405020304" pitchFamily="18" charset="0"/>
                <a:cs typeface="Times New Roman" panose="02020603050405020304" pitchFamily="18" charset="0"/>
              </a:rPr>
              <a:t> to maintain data consistency.</a:t>
            </a:r>
          </a:p>
          <a:p>
            <a:pPr algn="just"/>
            <a:r>
              <a:rPr lang="en-US" sz="2400" dirty="0">
                <a:latin typeface="Times New Roman" panose="02020603050405020304" pitchFamily="18" charset="0"/>
                <a:cs typeface="Times New Roman" panose="02020603050405020304" pitchFamily="18" charset="0"/>
              </a:rPr>
              <a:t>Standardized salary data by converting monthly salaries into yearly value.</a:t>
            </a:r>
          </a:p>
          <a:p>
            <a:pPr algn="just"/>
            <a:r>
              <a:rPr lang="en-US" sz="2400" dirty="0">
                <a:latin typeface="Times New Roman" panose="02020603050405020304" pitchFamily="18" charset="0"/>
                <a:cs typeface="Times New Roman" panose="02020603050405020304" pitchFamily="18" charset="0"/>
              </a:rPr>
              <a:t>Extracted experience requirements from unstructured job descriptions using regular expressions to derive minimum and maximum experience in years.</a:t>
            </a:r>
          </a:p>
          <a:p>
            <a:pPr algn="just"/>
            <a:r>
              <a:rPr lang="en-US" sz="2400" dirty="0">
                <a:latin typeface="Times New Roman" panose="02020603050405020304" pitchFamily="18" charset="0"/>
                <a:cs typeface="Times New Roman" panose="02020603050405020304" pitchFamily="18" charset="0"/>
              </a:rPr>
              <a:t>Performed skill extraction and normalization by mapping unstructured job descriptions to a predefined skill set (e.g., Python, SQL, Power BI, ML)..</a:t>
            </a:r>
          </a:p>
          <a:p>
            <a:pPr algn="just"/>
            <a:r>
              <a:rPr lang="en-US" sz="2400" dirty="0">
                <a:latin typeface="Times New Roman" panose="02020603050405020304" pitchFamily="18" charset="0"/>
                <a:cs typeface="Times New Roman" panose="02020603050405020304" pitchFamily="18" charset="0"/>
              </a:rPr>
              <a:t>Converted categorical variables (job role, location, company) into structured columns suitable for grouping and aggregation during analysis.</a:t>
            </a:r>
          </a:p>
          <a:p>
            <a:pPr algn="just"/>
            <a:r>
              <a:rPr lang="en-US" sz="2400" dirty="0">
                <a:latin typeface="Times New Roman" panose="02020603050405020304" pitchFamily="18" charset="0"/>
                <a:cs typeface="Times New Roman" panose="02020603050405020304" pitchFamily="18" charset="0"/>
              </a:rPr>
              <a:t>Filtered irrelevant or noisy records, such as jobs without valid titles or descriptions, to improve data quality.</a:t>
            </a:r>
          </a:p>
          <a:p>
            <a:pPr marL="114300" indent="0">
              <a:buNone/>
            </a:pP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721931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A06D0E-2EB4-04B6-EDBC-931D17CF37E4}"/>
              </a:ext>
            </a:extLst>
          </p:cNvPr>
          <p:cNvSpPr>
            <a:spLocks noGrp="1"/>
          </p:cNvSpPr>
          <p:nvPr>
            <p:ph type="title"/>
          </p:nvPr>
        </p:nvSpPr>
        <p:spPr>
          <a:xfrm>
            <a:off x="838200" y="325667"/>
            <a:ext cx="10183761" cy="355370"/>
          </a:xfrm>
        </p:spPr>
        <p:txBody>
          <a:bodyPr>
            <a:normAutofit fontScale="90000"/>
          </a:bodyPr>
          <a:lstStyle/>
          <a:p>
            <a:pPr algn="ctr"/>
            <a:r>
              <a:rPr lang="en-US" sz="3600" b="1" dirty="0">
                <a:solidFill>
                  <a:srgbClr val="FF0000"/>
                </a:solidFill>
                <a:latin typeface="Times New Roman" panose="02020603050405020304" pitchFamily="18" charset="0"/>
                <a:cs typeface="Times New Roman" panose="02020603050405020304" pitchFamily="18" charset="0"/>
              </a:rPr>
              <a:t>Analysis and Interpretation</a:t>
            </a:r>
            <a:br>
              <a:rPr lang="en-US" sz="3600" b="1" dirty="0">
                <a:solidFill>
                  <a:srgbClr val="FF0000"/>
                </a:solidFill>
                <a:latin typeface="Times New Roman" panose="02020603050405020304" pitchFamily="18" charset="0"/>
                <a:cs typeface="Times New Roman" panose="02020603050405020304" pitchFamily="18" charset="0"/>
              </a:rPr>
            </a:br>
            <a:endParaRPr lang="en-IN" sz="3600" dirty="0">
              <a:solidFill>
                <a:srgbClr val="FF0000"/>
              </a:solidFill>
            </a:endParaRPr>
          </a:p>
        </p:txBody>
      </p:sp>
      <p:sp>
        <p:nvSpPr>
          <p:cNvPr id="3" name="Text Placeholder 2">
            <a:extLst>
              <a:ext uri="{FF2B5EF4-FFF2-40B4-BE49-F238E27FC236}">
                <a16:creationId xmlns:a16="http://schemas.microsoft.com/office/drawing/2014/main" id="{92A6E882-E0B0-6920-8C94-798F5C08A73C}"/>
              </a:ext>
            </a:extLst>
          </p:cNvPr>
          <p:cNvSpPr>
            <a:spLocks noGrp="1"/>
          </p:cNvSpPr>
          <p:nvPr>
            <p:ph type="body" idx="1"/>
          </p:nvPr>
        </p:nvSpPr>
        <p:spPr>
          <a:xfrm>
            <a:off x="7533409" y="1883250"/>
            <a:ext cx="3763856" cy="2135752"/>
          </a:xfrm>
        </p:spPr>
        <p:txBody>
          <a:bodyPr>
            <a:normAutofit lnSpcReduction="10000"/>
          </a:bodyPr>
          <a:lstStyle/>
          <a:p>
            <a:pPr marL="114300" indent="0">
              <a:buNone/>
            </a:pPr>
            <a:r>
              <a:rPr lang="en-US" dirty="0">
                <a:latin typeface="Times New Roman" panose="02020603050405020304" pitchFamily="18" charset="0"/>
                <a:cs typeface="Times New Roman" panose="02020603050405020304" pitchFamily="18" charset="0"/>
              </a:rPr>
              <a:t>Insight:</a:t>
            </a:r>
          </a:p>
          <a:p>
            <a:r>
              <a:rPr lang="en-US" sz="2000" dirty="0">
                <a:latin typeface="Times New Roman" panose="02020603050405020304" pitchFamily="18" charset="0"/>
                <a:cs typeface="Times New Roman" panose="02020603050405020304" pitchFamily="18" charset="0"/>
              </a:rPr>
              <a:t>This shows which roles are currently most in-demand.</a:t>
            </a:r>
          </a:p>
          <a:p>
            <a:r>
              <a:rPr lang="en-US" sz="2000" dirty="0">
                <a:latin typeface="Times New Roman" panose="02020603050405020304" pitchFamily="18" charset="0"/>
                <a:cs typeface="Times New Roman" panose="02020603050405020304" pitchFamily="18" charset="0"/>
              </a:rPr>
              <a:t>Data Engineer and Data Analyst are Most in-demand job roles</a:t>
            </a:r>
          </a:p>
          <a:p>
            <a:pPr marL="114300" indent="0">
              <a:buNone/>
            </a:pPr>
            <a:endParaRPr lang="en-IN" dirty="0"/>
          </a:p>
        </p:txBody>
      </p:sp>
      <p:sp>
        <p:nvSpPr>
          <p:cNvPr id="4" name="TextBox 3">
            <a:extLst>
              <a:ext uri="{FF2B5EF4-FFF2-40B4-BE49-F238E27FC236}">
                <a16:creationId xmlns:a16="http://schemas.microsoft.com/office/drawing/2014/main" id="{DAC3ACC5-4CD8-5D31-E380-A898E7BBC18D}"/>
              </a:ext>
            </a:extLst>
          </p:cNvPr>
          <p:cNvSpPr txBox="1"/>
          <p:nvPr/>
        </p:nvSpPr>
        <p:spPr>
          <a:xfrm>
            <a:off x="656973" y="681037"/>
            <a:ext cx="3206327" cy="523220"/>
          </a:xfrm>
          <a:prstGeom prst="rect">
            <a:avLst/>
          </a:prstGeom>
          <a:noFill/>
        </p:spPr>
        <p:txBody>
          <a:bodyPr wrap="none" rtlCol="0">
            <a:spAutoFit/>
          </a:bodyPr>
          <a:lstStyle/>
          <a:p>
            <a:r>
              <a:rPr lang="en-US" sz="2800" b="1" dirty="0">
                <a:solidFill>
                  <a:srgbClr val="FF0000"/>
                </a:solidFill>
                <a:latin typeface="Times New Roman" panose="02020603050405020304" pitchFamily="18" charset="0"/>
                <a:cs typeface="Times New Roman" panose="02020603050405020304" pitchFamily="18" charset="0"/>
              </a:rPr>
              <a:t>Univariate Analysis</a:t>
            </a:r>
            <a:endParaRPr lang="en-IN" sz="2800" b="1" dirty="0">
              <a:solidFill>
                <a:srgbClr val="FF0000"/>
              </a:solidFill>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5E4295EF-FD19-1319-9115-FDCBEF3325E2}"/>
              </a:ext>
            </a:extLst>
          </p:cNvPr>
          <p:cNvSpPr txBox="1"/>
          <p:nvPr/>
        </p:nvSpPr>
        <p:spPr>
          <a:xfrm>
            <a:off x="656972" y="1421585"/>
            <a:ext cx="7302463" cy="523220"/>
          </a:xfrm>
          <a:prstGeom prst="rect">
            <a:avLst/>
          </a:prstGeom>
          <a:noFill/>
        </p:spPr>
        <p:txBody>
          <a:bodyPr wrap="square" rtlCol="0">
            <a:spAutoFit/>
          </a:bodyPr>
          <a:lstStyle/>
          <a:p>
            <a:r>
              <a:rPr lang="en-US" sz="2800" b="1" dirty="0">
                <a:solidFill>
                  <a:schemeClr val="tx1"/>
                </a:solidFill>
                <a:latin typeface="Times New Roman" panose="02020603050405020304" pitchFamily="18" charset="0"/>
                <a:cs typeface="Times New Roman" panose="02020603050405020304" pitchFamily="18" charset="0"/>
              </a:rPr>
              <a:t>Job Demand</a:t>
            </a:r>
            <a:endParaRPr lang="en-IN" sz="2800" b="1" dirty="0">
              <a:solidFill>
                <a:schemeClr val="tx1"/>
              </a:solidFill>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B837A046-22EE-39B0-143E-D2DD27792523}"/>
              </a:ext>
            </a:extLst>
          </p:cNvPr>
          <p:cNvPicPr>
            <a:picLocks noChangeAspect="1"/>
          </p:cNvPicPr>
          <p:nvPr/>
        </p:nvPicPr>
        <p:blipFill>
          <a:blip r:embed="rId2"/>
          <a:stretch>
            <a:fillRect/>
          </a:stretch>
        </p:blipFill>
        <p:spPr>
          <a:xfrm>
            <a:off x="300210" y="2064640"/>
            <a:ext cx="7387918" cy="3908724"/>
          </a:xfrm>
          <a:prstGeom prst="rect">
            <a:avLst/>
          </a:prstGeom>
          <a:ln>
            <a:solidFill>
              <a:schemeClr val="tx1"/>
            </a:solidFill>
          </a:ln>
        </p:spPr>
      </p:pic>
    </p:spTree>
    <p:extLst>
      <p:ext uri="{BB962C8B-B14F-4D97-AF65-F5344CB8AC3E}">
        <p14:creationId xmlns:p14="http://schemas.microsoft.com/office/powerpoint/2010/main" val="41671798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421ADF-2F2B-B012-C345-D57761E9B58A}"/>
              </a:ext>
            </a:extLst>
          </p:cNvPr>
          <p:cNvSpPr>
            <a:spLocks noGrp="1"/>
          </p:cNvSpPr>
          <p:nvPr>
            <p:ph type="title"/>
          </p:nvPr>
        </p:nvSpPr>
        <p:spPr>
          <a:xfrm>
            <a:off x="530942" y="483113"/>
            <a:ext cx="7688267" cy="804914"/>
          </a:xfrm>
        </p:spPr>
        <p:txBody>
          <a:bodyPr/>
          <a:lstStyle/>
          <a:p>
            <a:r>
              <a:rPr lang="en-IN" dirty="0"/>
              <a:t> </a:t>
            </a:r>
            <a:r>
              <a:rPr lang="en-IN" sz="2800" b="1" dirty="0">
                <a:solidFill>
                  <a:schemeClr val="tx1"/>
                </a:solidFill>
                <a:latin typeface="Times New Roman" panose="02020603050405020304" pitchFamily="18" charset="0"/>
                <a:cs typeface="Times New Roman" panose="02020603050405020304" pitchFamily="18" charset="0"/>
              </a:rPr>
              <a:t>Companies Hiring the Most</a:t>
            </a:r>
          </a:p>
        </p:txBody>
      </p:sp>
      <p:sp>
        <p:nvSpPr>
          <p:cNvPr id="3" name="Text Placeholder 2">
            <a:extLst>
              <a:ext uri="{FF2B5EF4-FFF2-40B4-BE49-F238E27FC236}">
                <a16:creationId xmlns:a16="http://schemas.microsoft.com/office/drawing/2014/main" id="{C7236C7E-F27C-A7CA-D803-7C75BCD63097}"/>
              </a:ext>
            </a:extLst>
          </p:cNvPr>
          <p:cNvSpPr>
            <a:spLocks noGrp="1"/>
          </p:cNvSpPr>
          <p:nvPr>
            <p:ph type="body" idx="1"/>
          </p:nvPr>
        </p:nvSpPr>
        <p:spPr>
          <a:xfrm>
            <a:off x="7580671" y="1469964"/>
            <a:ext cx="3746090" cy="4686917"/>
          </a:xfrm>
        </p:spPr>
        <p:txBody>
          <a:bodyPr/>
          <a:lstStyle/>
          <a:p>
            <a:pPr marL="114300" indent="0">
              <a:buNone/>
            </a:pPr>
            <a:r>
              <a:rPr lang="en-US" sz="2400" b="1" dirty="0"/>
              <a:t> </a:t>
            </a:r>
            <a:r>
              <a:rPr lang="en-US" sz="2400" b="1" dirty="0">
                <a:latin typeface="Times New Roman" panose="02020603050405020304" pitchFamily="18" charset="0"/>
                <a:cs typeface="Times New Roman" panose="02020603050405020304" pitchFamily="18" charset="0"/>
              </a:rPr>
              <a:t>Insight: </a:t>
            </a:r>
          </a:p>
          <a:p>
            <a:r>
              <a:rPr lang="en-US" sz="2000" dirty="0">
                <a:latin typeface="Times New Roman" panose="02020603050405020304" pitchFamily="18" charset="0"/>
                <a:cs typeface="Times New Roman" panose="02020603050405020304" pitchFamily="18" charset="0"/>
              </a:rPr>
              <a:t>Shows which companies are actively hiring multiple roles</a:t>
            </a:r>
            <a:endParaRPr lang="en-IN" sz="2000"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7BF52E38-4E23-4E3C-DE23-49362876292A}"/>
              </a:ext>
            </a:extLst>
          </p:cNvPr>
          <p:cNvPicPr>
            <a:picLocks noChangeAspect="1"/>
          </p:cNvPicPr>
          <p:nvPr/>
        </p:nvPicPr>
        <p:blipFill>
          <a:blip r:embed="rId2"/>
          <a:stretch>
            <a:fillRect/>
          </a:stretch>
        </p:blipFill>
        <p:spPr>
          <a:xfrm>
            <a:off x="720798" y="1469964"/>
            <a:ext cx="6859873" cy="3918072"/>
          </a:xfrm>
          <a:prstGeom prst="rect">
            <a:avLst/>
          </a:prstGeom>
          <a:ln>
            <a:solidFill>
              <a:schemeClr val="tx1"/>
            </a:solidFill>
          </a:ln>
        </p:spPr>
      </p:pic>
    </p:spTree>
    <p:extLst>
      <p:ext uri="{BB962C8B-B14F-4D97-AF65-F5344CB8AC3E}">
        <p14:creationId xmlns:p14="http://schemas.microsoft.com/office/powerpoint/2010/main" val="2189486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BDE7F7-0207-69BB-B321-6583EAB5E9DA}"/>
              </a:ext>
            </a:extLst>
          </p:cNvPr>
          <p:cNvSpPr>
            <a:spLocks noGrp="1"/>
          </p:cNvSpPr>
          <p:nvPr>
            <p:ph type="title"/>
          </p:nvPr>
        </p:nvSpPr>
        <p:spPr>
          <a:xfrm>
            <a:off x="474806" y="365125"/>
            <a:ext cx="10515600" cy="509946"/>
          </a:xfrm>
        </p:spPr>
        <p:txBody>
          <a:bodyPr>
            <a:normAutofit/>
          </a:bodyPr>
          <a:lstStyle/>
          <a:p>
            <a:r>
              <a:rPr lang="en-IN" sz="2400" dirty="0"/>
              <a:t> </a:t>
            </a:r>
            <a:r>
              <a:rPr lang="en-IN" sz="2800" b="1" dirty="0">
                <a:latin typeface="Times New Roman" panose="02020603050405020304" pitchFamily="18" charset="0"/>
                <a:cs typeface="Times New Roman" panose="02020603050405020304" pitchFamily="18" charset="0"/>
              </a:rPr>
              <a:t>Skills in Demand</a:t>
            </a:r>
          </a:p>
        </p:txBody>
      </p:sp>
      <p:sp>
        <p:nvSpPr>
          <p:cNvPr id="3" name="Text Placeholder 2">
            <a:extLst>
              <a:ext uri="{FF2B5EF4-FFF2-40B4-BE49-F238E27FC236}">
                <a16:creationId xmlns:a16="http://schemas.microsoft.com/office/drawing/2014/main" id="{714F73F8-E935-AB52-AB4C-E1CA2A08C06F}"/>
              </a:ext>
            </a:extLst>
          </p:cNvPr>
          <p:cNvSpPr>
            <a:spLocks noGrp="1"/>
          </p:cNvSpPr>
          <p:nvPr>
            <p:ph type="body" idx="1"/>
          </p:nvPr>
        </p:nvSpPr>
        <p:spPr>
          <a:xfrm>
            <a:off x="7944464" y="1167808"/>
            <a:ext cx="3409335" cy="3876139"/>
          </a:xfrm>
        </p:spPr>
        <p:txBody>
          <a:bodyPr>
            <a:normAutofit/>
          </a:bodyPr>
          <a:lstStyle/>
          <a:p>
            <a:pPr marL="114300" indent="0">
              <a:buNone/>
            </a:pPr>
            <a:r>
              <a:rPr lang="en-US" sz="2000" b="1" dirty="0">
                <a:latin typeface="Times New Roman" panose="02020603050405020304" pitchFamily="18" charset="0"/>
                <a:cs typeface="Times New Roman" panose="02020603050405020304" pitchFamily="18" charset="0"/>
              </a:rPr>
              <a:t>Insight: </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Shows the most requested skills, e.g., 'R’, 'Python', 'SQL', 'Power BI', 'Machine Learning'.</a:t>
            </a:r>
            <a:endParaRPr lang="en-IN" sz="20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A3083F35-BC78-AF52-3D47-14099390E30F}"/>
              </a:ext>
            </a:extLst>
          </p:cNvPr>
          <p:cNvPicPr>
            <a:picLocks noChangeAspect="1"/>
          </p:cNvPicPr>
          <p:nvPr/>
        </p:nvPicPr>
        <p:blipFill>
          <a:blip r:embed="rId2"/>
          <a:stretch>
            <a:fillRect/>
          </a:stretch>
        </p:blipFill>
        <p:spPr>
          <a:xfrm>
            <a:off x="671451" y="1167808"/>
            <a:ext cx="7194355" cy="3876139"/>
          </a:xfrm>
          <a:prstGeom prst="rect">
            <a:avLst/>
          </a:prstGeom>
          <a:ln>
            <a:solidFill>
              <a:schemeClr val="tx1"/>
            </a:solidFill>
          </a:ln>
        </p:spPr>
      </p:pic>
    </p:spTree>
    <p:extLst>
      <p:ext uri="{BB962C8B-B14F-4D97-AF65-F5344CB8AC3E}">
        <p14:creationId xmlns:p14="http://schemas.microsoft.com/office/powerpoint/2010/main" val="1346485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FF5EDA-44DE-4EBF-C890-9ADEBE79AFCA}"/>
              </a:ext>
            </a:extLst>
          </p:cNvPr>
          <p:cNvSpPr>
            <a:spLocks noGrp="1"/>
          </p:cNvSpPr>
          <p:nvPr>
            <p:ph type="title"/>
          </p:nvPr>
        </p:nvSpPr>
        <p:spPr>
          <a:xfrm>
            <a:off x="626749" y="370714"/>
            <a:ext cx="10515600" cy="529610"/>
          </a:xfrm>
        </p:spPr>
        <p:txBody>
          <a:bodyPr>
            <a:normAutofit/>
          </a:bodyPr>
          <a:lstStyle/>
          <a:p>
            <a:r>
              <a:rPr lang="en-US" sz="2800" b="1" dirty="0">
                <a:latin typeface="Times New Roman" panose="02020603050405020304" pitchFamily="18" charset="0"/>
                <a:cs typeface="Times New Roman" panose="02020603050405020304" pitchFamily="18" charset="0"/>
              </a:rPr>
              <a:t>Job availability by Location</a:t>
            </a:r>
            <a:endParaRPr lang="en-IN" sz="2800" b="1"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E342BAA2-84C3-54DF-05BD-6810F7238009}"/>
              </a:ext>
            </a:extLst>
          </p:cNvPr>
          <p:cNvSpPr>
            <a:spLocks noGrp="1"/>
          </p:cNvSpPr>
          <p:nvPr>
            <p:ph type="body" idx="1"/>
          </p:nvPr>
        </p:nvSpPr>
        <p:spPr>
          <a:xfrm>
            <a:off x="7124142" y="1253331"/>
            <a:ext cx="4323736" cy="4351338"/>
          </a:xfrm>
        </p:spPr>
        <p:txBody>
          <a:bodyPr>
            <a:normAutofit/>
          </a:bodyPr>
          <a:lstStyle/>
          <a:p>
            <a:pPr marL="114300" indent="0">
              <a:buNone/>
            </a:pPr>
            <a:r>
              <a:rPr lang="en-US" sz="2000" b="1" dirty="0">
                <a:latin typeface="Times New Roman" panose="02020603050405020304" pitchFamily="18" charset="0"/>
                <a:cs typeface="Times New Roman" panose="02020603050405020304" pitchFamily="18" charset="0"/>
              </a:rPr>
              <a:t>Insight: </a:t>
            </a:r>
          </a:p>
          <a:p>
            <a:r>
              <a:rPr lang="en-US" sz="2000" dirty="0">
                <a:latin typeface="Times New Roman" panose="02020603050405020304" pitchFamily="18" charset="0"/>
                <a:cs typeface="Times New Roman" panose="02020603050405020304" pitchFamily="18" charset="0"/>
              </a:rPr>
              <a:t>Highlights cities with the highest demand, Bangalore, Haryana, Chennai.</a:t>
            </a:r>
            <a:endParaRPr lang="en-IN" sz="20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ADB0F621-B697-FE34-D2A0-707D26888659}"/>
              </a:ext>
            </a:extLst>
          </p:cNvPr>
          <p:cNvPicPr>
            <a:picLocks noChangeAspect="1"/>
          </p:cNvPicPr>
          <p:nvPr/>
        </p:nvPicPr>
        <p:blipFill>
          <a:blip r:embed="rId2"/>
          <a:stretch>
            <a:fillRect/>
          </a:stretch>
        </p:blipFill>
        <p:spPr>
          <a:xfrm>
            <a:off x="626749" y="1253331"/>
            <a:ext cx="6304994" cy="4617533"/>
          </a:xfrm>
          <a:prstGeom prst="rect">
            <a:avLst/>
          </a:prstGeom>
          <a:ln>
            <a:solidFill>
              <a:schemeClr val="tx1"/>
            </a:solidFill>
          </a:ln>
        </p:spPr>
      </p:pic>
    </p:spTree>
    <p:extLst>
      <p:ext uri="{BB962C8B-B14F-4D97-AF65-F5344CB8AC3E}">
        <p14:creationId xmlns:p14="http://schemas.microsoft.com/office/powerpoint/2010/main" val="27101283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94B877-4CD8-510B-F402-1A34EFF4C262}"/>
              </a:ext>
            </a:extLst>
          </p:cNvPr>
          <p:cNvSpPr>
            <a:spLocks noGrp="1"/>
          </p:cNvSpPr>
          <p:nvPr>
            <p:ph type="title"/>
          </p:nvPr>
        </p:nvSpPr>
        <p:spPr>
          <a:xfrm>
            <a:off x="690716" y="25459"/>
            <a:ext cx="10515600" cy="1009651"/>
          </a:xfrm>
        </p:spPr>
        <p:txBody>
          <a:bodyPr>
            <a:normAutofit/>
          </a:bodyPr>
          <a:lstStyle/>
          <a:p>
            <a:r>
              <a:rPr lang="en-US" sz="2800" b="1" dirty="0">
                <a:solidFill>
                  <a:srgbClr val="FF0000"/>
                </a:solidFill>
                <a:latin typeface="Times New Roman" panose="02020603050405020304" pitchFamily="18" charset="0"/>
                <a:cs typeface="Times New Roman" panose="02020603050405020304" pitchFamily="18" charset="0"/>
              </a:rPr>
              <a:t>Bi-Variate Analysis</a:t>
            </a:r>
            <a:endParaRPr lang="en-IN" sz="2800" b="1" dirty="0">
              <a:solidFill>
                <a:srgbClr val="FF0000"/>
              </a:solidFill>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DCC9CABE-93ED-D182-D8DD-63B64991F816}"/>
              </a:ext>
            </a:extLst>
          </p:cNvPr>
          <p:cNvSpPr>
            <a:spLocks noGrp="1"/>
          </p:cNvSpPr>
          <p:nvPr>
            <p:ph type="body" idx="1"/>
          </p:nvPr>
        </p:nvSpPr>
        <p:spPr>
          <a:xfrm>
            <a:off x="8069266" y="1548035"/>
            <a:ext cx="3517490" cy="4351338"/>
          </a:xfrm>
        </p:spPr>
        <p:txBody>
          <a:bodyPr>
            <a:normAutofit/>
          </a:bodyPr>
          <a:lstStyle/>
          <a:p>
            <a:pPr marL="114300" indent="0">
              <a:buNone/>
            </a:pPr>
            <a:r>
              <a:rPr lang="en-US" sz="2000" b="1" dirty="0">
                <a:latin typeface="Times New Roman" panose="02020603050405020304" pitchFamily="18" charset="0"/>
                <a:cs typeface="Times New Roman" panose="02020603050405020304" pitchFamily="18" charset="0"/>
              </a:rPr>
              <a:t>Insight: </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Identify which roles pay the highest on average.</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Typically, Business Intelligence developer and Machine Learning Engineer'</a:t>
            </a:r>
            <a:endParaRPr lang="en-IN" sz="2000"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BFA1A44A-6666-4E56-7E1D-7D65C794759B}"/>
              </a:ext>
            </a:extLst>
          </p:cNvPr>
          <p:cNvSpPr txBox="1"/>
          <p:nvPr/>
        </p:nvSpPr>
        <p:spPr>
          <a:xfrm>
            <a:off x="690716" y="917846"/>
            <a:ext cx="5922818" cy="523220"/>
          </a:xfrm>
          <a:prstGeom prst="rect">
            <a:avLst/>
          </a:prstGeom>
          <a:noFill/>
        </p:spPr>
        <p:txBody>
          <a:bodyPr wrap="square" rtlCol="0">
            <a:spAutoFit/>
          </a:bodyPr>
          <a:lstStyle/>
          <a:p>
            <a:r>
              <a:rPr lang="en-US" sz="2800" b="1" dirty="0">
                <a:solidFill>
                  <a:schemeClr val="tx1"/>
                </a:solidFill>
                <a:latin typeface="Times New Roman" panose="02020603050405020304" pitchFamily="18" charset="0"/>
                <a:cs typeface="Times New Roman" panose="02020603050405020304" pitchFamily="18" charset="0"/>
              </a:rPr>
              <a:t>Salary Analysis by Job Role</a:t>
            </a:r>
            <a:endParaRPr lang="en-IN" sz="2800" b="1" dirty="0">
              <a:solidFill>
                <a:schemeClr val="tx1"/>
              </a:solidFill>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80300C64-636B-FB16-772A-B87B17BFF462}"/>
              </a:ext>
            </a:extLst>
          </p:cNvPr>
          <p:cNvPicPr>
            <a:picLocks noChangeAspect="1"/>
          </p:cNvPicPr>
          <p:nvPr/>
        </p:nvPicPr>
        <p:blipFill>
          <a:blip r:embed="rId2"/>
          <a:stretch>
            <a:fillRect/>
          </a:stretch>
        </p:blipFill>
        <p:spPr>
          <a:xfrm>
            <a:off x="792280" y="1548035"/>
            <a:ext cx="6926267" cy="3761930"/>
          </a:xfrm>
          <a:prstGeom prst="rect">
            <a:avLst/>
          </a:prstGeom>
          <a:ln>
            <a:solidFill>
              <a:schemeClr val="tx1"/>
            </a:solidFill>
          </a:ln>
        </p:spPr>
      </p:pic>
    </p:spTree>
    <p:extLst>
      <p:ext uri="{BB962C8B-B14F-4D97-AF65-F5344CB8AC3E}">
        <p14:creationId xmlns:p14="http://schemas.microsoft.com/office/powerpoint/2010/main" val="19301454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DBB474-35B1-2D0F-2C7D-1909F8648D66}"/>
              </a:ext>
            </a:extLst>
          </p:cNvPr>
          <p:cNvSpPr>
            <a:spLocks noGrp="1"/>
          </p:cNvSpPr>
          <p:nvPr>
            <p:ph type="title"/>
          </p:nvPr>
        </p:nvSpPr>
        <p:spPr>
          <a:xfrm>
            <a:off x="540775" y="199768"/>
            <a:ext cx="10515600" cy="618101"/>
          </a:xfrm>
        </p:spPr>
        <p:txBody>
          <a:bodyPr>
            <a:normAutofit/>
          </a:bodyPr>
          <a:lstStyle/>
          <a:p>
            <a:r>
              <a:rPr lang="en-IN" sz="2800" b="1" dirty="0">
                <a:latin typeface="Times New Roman" panose="02020603050405020304" pitchFamily="18" charset="0"/>
                <a:cs typeface="Times New Roman" panose="02020603050405020304" pitchFamily="18" charset="0"/>
              </a:rPr>
              <a:t>Salary Comparison Across Locations</a:t>
            </a:r>
          </a:p>
        </p:txBody>
      </p:sp>
      <p:sp>
        <p:nvSpPr>
          <p:cNvPr id="3" name="Text Placeholder 2">
            <a:extLst>
              <a:ext uri="{FF2B5EF4-FFF2-40B4-BE49-F238E27FC236}">
                <a16:creationId xmlns:a16="http://schemas.microsoft.com/office/drawing/2014/main" id="{685BDFCA-D31C-598E-34F8-B8CF4A7D6CE2}"/>
              </a:ext>
            </a:extLst>
          </p:cNvPr>
          <p:cNvSpPr>
            <a:spLocks noGrp="1"/>
          </p:cNvSpPr>
          <p:nvPr>
            <p:ph type="body" idx="1"/>
          </p:nvPr>
        </p:nvSpPr>
        <p:spPr>
          <a:xfrm>
            <a:off x="7917873" y="970936"/>
            <a:ext cx="3435926" cy="5206027"/>
          </a:xfrm>
        </p:spPr>
        <p:txBody>
          <a:bodyPr/>
          <a:lstStyle/>
          <a:p>
            <a:pPr marL="114300" indent="0">
              <a:buNone/>
            </a:pPr>
            <a:r>
              <a:rPr lang="en-US" sz="2000" b="1" dirty="0">
                <a:latin typeface="Times New Roman" panose="02020603050405020304" pitchFamily="18" charset="0"/>
                <a:cs typeface="Times New Roman" panose="02020603050405020304" pitchFamily="18" charset="0"/>
              </a:rPr>
              <a:t>Insight:</a:t>
            </a:r>
          </a:p>
          <a:p>
            <a:r>
              <a:rPr lang="en-US" sz="2000" dirty="0">
                <a:latin typeface="Times New Roman" panose="02020603050405020304" pitchFamily="18" charset="0"/>
                <a:cs typeface="Times New Roman" panose="02020603050405020304" pitchFamily="18" charset="0"/>
              </a:rPr>
              <a:t>Shows where salaries are highest; often metro cities pay more.</a:t>
            </a:r>
          </a:p>
          <a:p>
            <a:pPr marL="114300" indent="0">
              <a:buNone/>
            </a:pPr>
            <a:endParaRPr lang="en-IN" dirty="0"/>
          </a:p>
        </p:txBody>
      </p:sp>
      <p:pic>
        <p:nvPicPr>
          <p:cNvPr id="6" name="Picture 5">
            <a:extLst>
              <a:ext uri="{FF2B5EF4-FFF2-40B4-BE49-F238E27FC236}">
                <a16:creationId xmlns:a16="http://schemas.microsoft.com/office/drawing/2014/main" id="{4516193C-4778-D329-9848-A66EA6251CEF}"/>
              </a:ext>
            </a:extLst>
          </p:cNvPr>
          <p:cNvPicPr>
            <a:picLocks noChangeAspect="1"/>
          </p:cNvPicPr>
          <p:nvPr/>
        </p:nvPicPr>
        <p:blipFill>
          <a:blip r:embed="rId2"/>
          <a:stretch>
            <a:fillRect/>
          </a:stretch>
        </p:blipFill>
        <p:spPr>
          <a:xfrm>
            <a:off x="762000" y="1168363"/>
            <a:ext cx="7252856" cy="4037482"/>
          </a:xfrm>
          <a:prstGeom prst="rect">
            <a:avLst/>
          </a:prstGeom>
          <a:ln>
            <a:solidFill>
              <a:schemeClr val="tx1"/>
            </a:solidFill>
          </a:ln>
        </p:spPr>
      </p:pic>
    </p:spTree>
    <p:extLst>
      <p:ext uri="{BB962C8B-B14F-4D97-AF65-F5344CB8AC3E}">
        <p14:creationId xmlns:p14="http://schemas.microsoft.com/office/powerpoint/2010/main" val="8212956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BCDE90-2EF1-88A5-7E0B-069CC9F0B2AE}"/>
              </a:ext>
            </a:extLst>
          </p:cNvPr>
          <p:cNvSpPr>
            <a:spLocks noGrp="1"/>
          </p:cNvSpPr>
          <p:nvPr>
            <p:ph type="title"/>
          </p:nvPr>
        </p:nvSpPr>
        <p:spPr>
          <a:xfrm>
            <a:off x="682336" y="380422"/>
            <a:ext cx="10515600" cy="601230"/>
          </a:xfrm>
        </p:spPr>
        <p:txBody>
          <a:bodyPr>
            <a:normAutofit/>
          </a:bodyPr>
          <a:lstStyle/>
          <a:p>
            <a:r>
              <a:rPr lang="en-US" sz="2800" b="1" dirty="0">
                <a:latin typeface="Times New Roman" panose="02020603050405020304" pitchFamily="18" charset="0"/>
                <a:cs typeface="Times New Roman" panose="02020603050405020304" pitchFamily="18" charset="0"/>
              </a:rPr>
              <a:t>Experience vs Salary </a:t>
            </a:r>
            <a:endParaRPr lang="en-IN" sz="2800" b="1"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9CDEEDB9-0998-33B8-FCFA-CEE4E4428FA0}"/>
              </a:ext>
            </a:extLst>
          </p:cNvPr>
          <p:cNvSpPr>
            <a:spLocks noGrp="1"/>
          </p:cNvSpPr>
          <p:nvPr>
            <p:ph type="body" idx="1"/>
          </p:nvPr>
        </p:nvSpPr>
        <p:spPr>
          <a:xfrm>
            <a:off x="7824354" y="1272597"/>
            <a:ext cx="3387436" cy="4584486"/>
          </a:xfrm>
        </p:spPr>
        <p:txBody>
          <a:bodyPr>
            <a:normAutofit/>
          </a:bodyPr>
          <a:lstStyle/>
          <a:p>
            <a:pPr marL="114300" indent="0">
              <a:buNone/>
            </a:pPr>
            <a:r>
              <a:rPr lang="en-US" sz="2000" b="1" dirty="0">
                <a:latin typeface="Times New Roman" panose="02020603050405020304" pitchFamily="18" charset="0"/>
                <a:cs typeface="Times New Roman" panose="02020603050405020304" pitchFamily="18" charset="0"/>
              </a:rPr>
              <a:t>Insights:</a:t>
            </a:r>
          </a:p>
          <a:p>
            <a:r>
              <a:rPr lang="en-US" sz="2000" dirty="0">
                <a:latin typeface="Times New Roman" panose="02020603050405020304" pitchFamily="18" charset="0"/>
                <a:cs typeface="Times New Roman" panose="02020603050405020304" pitchFamily="18" charset="0"/>
              </a:rPr>
              <a:t>Roles like  ML, DL  &amp; AI Engineer</a:t>
            </a:r>
            <a:r>
              <a:rPr lang="en-IN" sz="2000" dirty="0">
                <a:latin typeface="Times New Roman" panose="02020603050405020304" pitchFamily="18" charset="0"/>
                <a:cs typeface="Times New Roman" panose="02020603050405020304" pitchFamily="18" charset="0"/>
              </a:rPr>
              <a:t> show very high salaries even with 0-3 year of experience</a:t>
            </a:r>
          </a:p>
          <a:p>
            <a:r>
              <a:rPr lang="en-IN" sz="2000" dirty="0">
                <a:latin typeface="Times New Roman" panose="02020603050405020304" pitchFamily="18" charset="0"/>
                <a:cs typeface="Times New Roman" panose="02020603050405020304" pitchFamily="18" charset="0"/>
              </a:rPr>
              <a:t>Python and Java Developer shows wide salary variation across all experience levels.</a:t>
            </a:r>
          </a:p>
        </p:txBody>
      </p:sp>
      <p:pic>
        <p:nvPicPr>
          <p:cNvPr id="5" name="Picture 4">
            <a:extLst>
              <a:ext uri="{FF2B5EF4-FFF2-40B4-BE49-F238E27FC236}">
                <a16:creationId xmlns:a16="http://schemas.microsoft.com/office/drawing/2014/main" id="{4A66171A-F7F3-9C5B-3118-69FDF3A3CF4F}"/>
              </a:ext>
            </a:extLst>
          </p:cNvPr>
          <p:cNvPicPr>
            <a:picLocks noChangeAspect="1"/>
          </p:cNvPicPr>
          <p:nvPr/>
        </p:nvPicPr>
        <p:blipFill>
          <a:blip r:embed="rId2"/>
          <a:stretch>
            <a:fillRect/>
          </a:stretch>
        </p:blipFill>
        <p:spPr>
          <a:xfrm>
            <a:off x="810491" y="1272597"/>
            <a:ext cx="7013863" cy="4584487"/>
          </a:xfrm>
          <a:prstGeom prst="rect">
            <a:avLst/>
          </a:prstGeom>
          <a:ln>
            <a:solidFill>
              <a:schemeClr val="tx1"/>
            </a:solidFill>
          </a:ln>
        </p:spPr>
      </p:pic>
      <p:sp>
        <p:nvSpPr>
          <p:cNvPr id="8" name="Rectangle 3">
            <a:extLst>
              <a:ext uri="{FF2B5EF4-FFF2-40B4-BE49-F238E27FC236}">
                <a16:creationId xmlns:a16="http://schemas.microsoft.com/office/drawing/2014/main" id="{0EEC4438-572D-C9E8-4EFE-2A94E1611BBF}"/>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Roles like </a:t>
            </a:r>
            <a:r>
              <a:rPr kumimoji="0" lang="en-US" altLang="en-US" sz="1800" b="1" i="0" u="none" strike="noStrike" cap="none" normalizeH="0" baseline="0">
                <a:ln>
                  <a:noFill/>
                </a:ln>
                <a:solidFill>
                  <a:schemeClr val="tx1"/>
                </a:solidFill>
                <a:effectLst/>
                <a:latin typeface="Arial" panose="020B0604020202020204" pitchFamily="34" charset="0"/>
              </a:rPr>
              <a:t>Machine Learning Engineer</a:t>
            </a:r>
            <a:r>
              <a:rPr kumimoji="0" lang="en-US" altLang="en-US" sz="1800" b="0" i="0" u="none" strike="noStrike" cap="none" normalizeH="0" baseline="0">
                <a:ln>
                  <a:noFill/>
                </a:ln>
                <a:solidFill>
                  <a:schemeClr val="tx1"/>
                </a:solidFill>
                <a:effectLst/>
                <a:latin typeface="Arial" panose="020B0604020202020204" pitchFamily="34" charset="0"/>
              </a:rPr>
              <a:t>, </a:t>
            </a:r>
            <a:r>
              <a:rPr kumimoji="0" lang="en-US" altLang="en-US" sz="1800" b="1" i="0" u="none" strike="noStrike" cap="none" normalizeH="0" baseline="0">
                <a:ln>
                  <a:noFill/>
                </a:ln>
                <a:solidFill>
                  <a:schemeClr val="tx1"/>
                </a:solidFill>
                <a:effectLst/>
                <a:latin typeface="Arial" panose="020B0604020202020204" pitchFamily="34" charset="0"/>
              </a:rPr>
              <a:t>Deep Learning Engineer</a:t>
            </a:r>
            <a:r>
              <a:rPr kumimoji="0" lang="en-US" altLang="en-US" sz="1800" b="0" i="0" u="none" strike="noStrike" cap="none" normalizeH="0" baseline="0">
                <a:ln>
                  <a:noFill/>
                </a:ln>
                <a:solidFill>
                  <a:schemeClr val="tx1"/>
                </a:solidFill>
                <a:effectLst/>
                <a:latin typeface="Arial" panose="020B0604020202020204" pitchFamily="34" charset="0"/>
              </a:rPr>
              <a:t>, and </a:t>
            </a:r>
            <a:r>
              <a:rPr kumimoji="0" lang="en-US" altLang="en-US" sz="1800" b="1" i="0" u="none" strike="noStrike" cap="none" normalizeH="0" baseline="0">
                <a:ln>
                  <a:noFill/>
                </a:ln>
                <a:solidFill>
                  <a:schemeClr val="tx1"/>
                </a:solidFill>
                <a:effectLst/>
                <a:latin typeface="Arial" panose="020B0604020202020204" pitchFamily="34" charset="0"/>
              </a:rPr>
              <a:t>AI Engineer</a:t>
            </a:r>
            <a:r>
              <a:rPr kumimoji="0" lang="en-US" altLang="en-US" sz="1800" b="0" i="0" u="none" strike="noStrike" cap="none" normalizeH="0" baseline="0">
                <a:ln>
                  <a:noFill/>
                </a:ln>
                <a:solidFill>
                  <a:schemeClr val="tx1"/>
                </a:solidFill>
                <a:effectLst/>
                <a:latin typeface="Arial" panose="020B0604020202020204" pitchFamily="34" charset="0"/>
              </a:rPr>
              <a:t> show </a:t>
            </a:r>
            <a:r>
              <a:rPr kumimoji="0" lang="en-US" altLang="en-US" sz="1800" b="1" i="0" u="none" strike="noStrike" cap="none" normalizeH="0" baseline="0">
                <a:ln>
                  <a:noFill/>
                </a:ln>
                <a:solidFill>
                  <a:schemeClr val="tx1"/>
                </a:solidFill>
                <a:effectLst/>
                <a:latin typeface="Arial" panose="020B0604020202020204" pitchFamily="34" charset="0"/>
              </a:rPr>
              <a:t>very high salaries</a:t>
            </a:r>
            <a:r>
              <a:rPr kumimoji="0" lang="en-US" altLang="en-US" sz="1800" b="0" i="0" u="none" strike="noStrike" cap="none" normalizeH="0" baseline="0">
                <a:ln>
                  <a:noFill/>
                </a:ln>
                <a:solidFill>
                  <a:schemeClr val="tx1"/>
                </a:solidFill>
                <a:effectLst/>
                <a:latin typeface="Arial" panose="020B0604020202020204" pitchFamily="34" charset="0"/>
              </a:rPr>
              <a:t> even with </a:t>
            </a:r>
            <a:r>
              <a:rPr kumimoji="0" lang="en-US" altLang="en-US" sz="1800" b="1" i="0" u="none" strike="noStrike" cap="none" normalizeH="0" baseline="0">
                <a:ln>
                  <a:noFill/>
                </a:ln>
                <a:solidFill>
                  <a:schemeClr val="tx1"/>
                </a:solidFill>
                <a:effectLst/>
                <a:latin typeface="Arial" panose="020B0604020202020204" pitchFamily="34" charset="0"/>
              </a:rPr>
              <a:t>0–3 years of experience</a:t>
            </a:r>
            <a:r>
              <a:rPr kumimoji="0" lang="en-US" altLang="en-US" sz="1800" b="0" i="0" u="none" strike="noStrike" cap="none" normalizeH="0" baseline="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8036219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A107E5-7A5E-EAB6-9995-609C7ED6D8AC}"/>
              </a:ext>
            </a:extLst>
          </p:cNvPr>
          <p:cNvSpPr>
            <a:spLocks noGrp="1"/>
          </p:cNvSpPr>
          <p:nvPr>
            <p:ph type="title"/>
          </p:nvPr>
        </p:nvSpPr>
        <p:spPr>
          <a:xfrm>
            <a:off x="582561" y="18255"/>
            <a:ext cx="10515600" cy="955139"/>
          </a:xfrm>
        </p:spPr>
        <p:txBody>
          <a:bodyPr>
            <a:normAutofit/>
          </a:bodyPr>
          <a:lstStyle/>
          <a:p>
            <a:r>
              <a:rPr lang="en-US" sz="3200" b="1" dirty="0">
                <a:solidFill>
                  <a:srgbClr val="FF0000"/>
                </a:solidFill>
                <a:latin typeface="Times New Roman" panose="02020603050405020304" pitchFamily="18" charset="0"/>
                <a:cs typeface="Times New Roman" panose="02020603050405020304" pitchFamily="18" charset="0"/>
              </a:rPr>
              <a:t>Hypothesis Testing</a:t>
            </a:r>
            <a:endParaRPr lang="en-IN" sz="3200" b="1" dirty="0">
              <a:solidFill>
                <a:srgbClr val="FF0000"/>
              </a:solidFill>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D676F556-5598-E375-E541-C67BDB75B5EC}"/>
              </a:ext>
            </a:extLst>
          </p:cNvPr>
          <p:cNvSpPr>
            <a:spLocks noGrp="1"/>
          </p:cNvSpPr>
          <p:nvPr>
            <p:ph type="body" idx="1"/>
          </p:nvPr>
        </p:nvSpPr>
        <p:spPr>
          <a:xfrm>
            <a:off x="582561" y="3050367"/>
            <a:ext cx="8180439" cy="1406013"/>
          </a:xfrm>
        </p:spPr>
        <p:txBody>
          <a:bodyPr>
            <a:normAutofit/>
          </a:bodyPr>
          <a:lstStyle/>
          <a:p>
            <a:pPr marL="114300" indent="0" latinLnBrk="1">
              <a:buNone/>
            </a:pPr>
            <a:r>
              <a:rPr lang="en-US" sz="2000" b="1" dirty="0">
                <a:latin typeface="Times New Roman" panose="02020603050405020304" pitchFamily="18" charset="0"/>
                <a:cs typeface="Times New Roman" panose="02020603050405020304" pitchFamily="18" charset="0"/>
              </a:rPr>
              <a:t>T-statistic</a:t>
            </a:r>
            <a:r>
              <a:rPr lang="en-US" sz="2000" dirty="0">
                <a:latin typeface="Times New Roman" panose="02020603050405020304" pitchFamily="18" charset="0"/>
                <a:cs typeface="Times New Roman" panose="02020603050405020304" pitchFamily="18" charset="0"/>
              </a:rPr>
              <a:t>: 1.811926313807265</a:t>
            </a:r>
          </a:p>
          <a:p>
            <a:pPr marL="114300" indent="0" latinLnBrk="1">
              <a:buNone/>
            </a:pPr>
            <a:r>
              <a:rPr lang="en-US" sz="2000" b="1" dirty="0">
                <a:latin typeface="Times New Roman" panose="02020603050405020304" pitchFamily="18" charset="0"/>
                <a:cs typeface="Times New Roman" panose="02020603050405020304" pitchFamily="18" charset="0"/>
              </a:rPr>
              <a:t>P-value</a:t>
            </a:r>
            <a:r>
              <a:rPr lang="en-US" sz="2000" dirty="0">
                <a:latin typeface="Times New Roman" panose="02020603050405020304" pitchFamily="18" charset="0"/>
                <a:cs typeface="Times New Roman" panose="02020603050405020304" pitchFamily="18" charset="0"/>
              </a:rPr>
              <a:t>: 0.07089268833115335</a:t>
            </a:r>
          </a:p>
          <a:p>
            <a:pPr marL="114300" indent="0" latinLnBrk="1">
              <a:buNone/>
            </a:pPr>
            <a:r>
              <a:rPr lang="en-US" sz="2000" b="1" dirty="0">
                <a:latin typeface="Times New Roman" panose="02020603050405020304" pitchFamily="18" charset="0"/>
                <a:cs typeface="Times New Roman" panose="02020603050405020304" pitchFamily="18" charset="0"/>
              </a:rPr>
              <a:t>Fail to Reject H0</a:t>
            </a:r>
            <a:r>
              <a:rPr lang="en-US" sz="2000" dirty="0">
                <a:latin typeface="Times New Roman" panose="02020603050405020304" pitchFamily="18" charset="0"/>
                <a:cs typeface="Times New Roman" panose="02020603050405020304" pitchFamily="18" charset="0"/>
              </a:rPr>
              <a:t>: No significant salary difference</a:t>
            </a:r>
          </a:p>
          <a:p>
            <a:pPr marL="114300" indent="0">
              <a:buNone/>
            </a:pPr>
            <a:endParaRPr lang="en-IN" dirty="0"/>
          </a:p>
        </p:txBody>
      </p:sp>
      <p:sp>
        <p:nvSpPr>
          <p:cNvPr id="4" name="TextBox 3">
            <a:extLst>
              <a:ext uri="{FF2B5EF4-FFF2-40B4-BE49-F238E27FC236}">
                <a16:creationId xmlns:a16="http://schemas.microsoft.com/office/drawing/2014/main" id="{11DA7860-F969-B751-E237-56B6726E9C4E}"/>
              </a:ext>
            </a:extLst>
          </p:cNvPr>
          <p:cNvSpPr txBox="1"/>
          <p:nvPr/>
        </p:nvSpPr>
        <p:spPr>
          <a:xfrm>
            <a:off x="660608" y="875071"/>
            <a:ext cx="10948831" cy="461665"/>
          </a:xfrm>
          <a:prstGeom prst="rect">
            <a:avLst/>
          </a:prstGeom>
          <a:noFill/>
        </p:spPr>
        <p:txBody>
          <a:bodyPr wrap="none" rtlCol="0">
            <a:spAutoFit/>
          </a:bodyPr>
          <a:lstStyle/>
          <a:p>
            <a:r>
              <a:rPr lang="en-US" sz="2400" b="1" dirty="0">
                <a:latin typeface="Times New Roman" panose="02020603050405020304" pitchFamily="18" charset="0"/>
                <a:cs typeface="Times New Roman" panose="02020603050405020304" pitchFamily="18" charset="0"/>
              </a:rPr>
              <a:t>Is there a significant salary difference between Data Scientists and Data Analysts?</a:t>
            </a:r>
          </a:p>
        </p:txBody>
      </p:sp>
      <p:sp>
        <p:nvSpPr>
          <p:cNvPr id="5" name="TextBox 4">
            <a:extLst>
              <a:ext uri="{FF2B5EF4-FFF2-40B4-BE49-F238E27FC236}">
                <a16:creationId xmlns:a16="http://schemas.microsoft.com/office/drawing/2014/main" id="{9F1EC9B0-A76A-E4B3-8E49-A1CBCC0C833D}"/>
              </a:ext>
            </a:extLst>
          </p:cNvPr>
          <p:cNvSpPr txBox="1"/>
          <p:nvPr/>
        </p:nvSpPr>
        <p:spPr>
          <a:xfrm rot="10800000" flipV="1">
            <a:off x="660608" y="1531832"/>
            <a:ext cx="10515599" cy="1323439"/>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Hypotheses</a:t>
            </a:r>
          </a:p>
          <a:p>
            <a:r>
              <a:rPr lang="en-US" sz="2000" b="1" dirty="0">
                <a:latin typeface="Times New Roman" panose="02020603050405020304" pitchFamily="18" charset="0"/>
                <a:cs typeface="Times New Roman" panose="02020603050405020304" pitchFamily="18" charset="0"/>
              </a:rPr>
              <a:t>H₀ </a:t>
            </a:r>
            <a:r>
              <a:rPr lang="en-US" sz="2000" dirty="0">
                <a:latin typeface="Times New Roman" panose="02020603050405020304" pitchFamily="18" charset="0"/>
                <a:cs typeface="Times New Roman" panose="02020603050405020304" pitchFamily="18" charset="0"/>
              </a:rPr>
              <a:t>(Null): Mean salary of Data Scientists = Mean salary of Data Analysts µ(DS)=µ(DA)</a:t>
            </a:r>
          </a:p>
          <a:p>
            <a:r>
              <a:rPr lang="en-US" sz="2000" b="1" dirty="0">
                <a:latin typeface="Times New Roman" panose="02020603050405020304" pitchFamily="18" charset="0"/>
                <a:cs typeface="Times New Roman" panose="02020603050405020304" pitchFamily="18" charset="0"/>
              </a:rPr>
              <a:t>H₁ </a:t>
            </a:r>
            <a:r>
              <a:rPr lang="en-US" sz="2000" dirty="0">
                <a:latin typeface="Times New Roman" panose="02020603050405020304" pitchFamily="18" charset="0"/>
                <a:cs typeface="Times New Roman" panose="02020603050405020304" pitchFamily="18" charset="0"/>
              </a:rPr>
              <a:t>(Alternative): Mean salary of Data Scientists ≠ Mean salary of Data Analysts µ(DS)≠µ(DA)</a:t>
            </a:r>
          </a:p>
          <a:p>
            <a:r>
              <a:rPr lang="en-US" sz="2000" b="1" dirty="0">
                <a:latin typeface="Times New Roman" panose="02020603050405020304" pitchFamily="18" charset="0"/>
                <a:cs typeface="Times New Roman" panose="02020603050405020304" pitchFamily="18" charset="0"/>
              </a:rPr>
              <a:t>Test Type</a:t>
            </a:r>
            <a:r>
              <a:rPr lang="en-US" sz="2000" dirty="0">
                <a:latin typeface="Times New Roman" panose="02020603050405020304" pitchFamily="18" charset="0"/>
                <a:cs typeface="Times New Roman" panose="02020603050405020304" pitchFamily="18" charset="0"/>
              </a:rPr>
              <a:t>: Independent T-Test</a:t>
            </a:r>
            <a:endParaRPr lang="en-IN" sz="200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EA033007-E64D-CFD5-A2A2-7902023C6938}"/>
              </a:ext>
            </a:extLst>
          </p:cNvPr>
          <p:cNvSpPr txBox="1"/>
          <p:nvPr/>
        </p:nvSpPr>
        <p:spPr>
          <a:xfrm>
            <a:off x="660608" y="4837471"/>
            <a:ext cx="6646371" cy="1538883"/>
          </a:xfrm>
          <a:prstGeom prst="rect">
            <a:avLst/>
          </a:prstGeom>
          <a:noFill/>
        </p:spPr>
        <p:txBody>
          <a:bodyPr wrap="none" rtlCol="0">
            <a:spAutoFit/>
          </a:bodyPr>
          <a:lstStyle/>
          <a:p>
            <a:r>
              <a:rPr lang="en-US" sz="2000" b="1" dirty="0">
                <a:latin typeface="Times New Roman" panose="02020603050405020304" pitchFamily="18" charset="0"/>
                <a:cs typeface="Times New Roman" panose="02020603050405020304" pitchFamily="18" charset="0"/>
              </a:rPr>
              <a:t>Insights:</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Salary difference is not statistically significant</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Other factors likely influence salary more than role</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Salary ranges overlap for Data Scientists and Data Analysts</a:t>
            </a:r>
          </a:p>
          <a:p>
            <a:endParaRPr lang="en-IN" dirty="0"/>
          </a:p>
        </p:txBody>
      </p:sp>
    </p:spTree>
    <p:extLst>
      <p:ext uri="{BB962C8B-B14F-4D97-AF65-F5344CB8AC3E}">
        <p14:creationId xmlns:p14="http://schemas.microsoft.com/office/powerpoint/2010/main" val="42477769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4B9490-5290-90D3-8A00-A782BC3D909D}"/>
              </a:ext>
            </a:extLst>
          </p:cNvPr>
          <p:cNvSpPr>
            <a:spLocks noGrp="1"/>
          </p:cNvSpPr>
          <p:nvPr>
            <p:ph type="title"/>
          </p:nvPr>
        </p:nvSpPr>
        <p:spPr>
          <a:xfrm>
            <a:off x="671051" y="294968"/>
            <a:ext cx="10515600" cy="736087"/>
          </a:xfrm>
        </p:spPr>
        <p:txBody>
          <a:bodyPr>
            <a:noAutofit/>
          </a:bodyPr>
          <a:lstStyle/>
          <a:p>
            <a:r>
              <a:rPr lang="en-US" sz="2400" b="1" dirty="0">
                <a:latin typeface="Times New Roman" panose="02020603050405020304" pitchFamily="18" charset="0"/>
                <a:cs typeface="Times New Roman" panose="02020603050405020304" pitchFamily="18" charset="0"/>
              </a:rPr>
              <a:t>Do jobs requiring higher experience pay more?</a:t>
            </a:r>
            <a:endParaRPr lang="en-IN" sz="2400" b="1"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53CC0ECD-D8AD-FA57-EEA5-7B8A7576BE2F}"/>
              </a:ext>
            </a:extLst>
          </p:cNvPr>
          <p:cNvSpPr>
            <a:spLocks noGrp="1"/>
          </p:cNvSpPr>
          <p:nvPr>
            <p:ph type="body" idx="1"/>
          </p:nvPr>
        </p:nvSpPr>
        <p:spPr>
          <a:xfrm>
            <a:off x="796413" y="1031056"/>
            <a:ext cx="10068232" cy="5019368"/>
          </a:xfrm>
        </p:spPr>
        <p:txBody>
          <a:bodyPr>
            <a:normAutofit fontScale="92500" lnSpcReduction="10000"/>
          </a:bodyPr>
          <a:lstStyle/>
          <a:p>
            <a:pPr marL="114300" indent="0">
              <a:buNone/>
            </a:pPr>
            <a:r>
              <a:rPr lang="en-US" sz="2200" b="1" dirty="0">
                <a:latin typeface="Times New Roman" panose="02020603050405020304" pitchFamily="18" charset="0"/>
                <a:cs typeface="Times New Roman" panose="02020603050405020304" pitchFamily="18" charset="0"/>
              </a:rPr>
              <a:t>Hypotheses</a:t>
            </a:r>
          </a:p>
          <a:p>
            <a:pPr marL="114300" indent="0">
              <a:buNone/>
            </a:pPr>
            <a:r>
              <a:rPr lang="en-US" sz="2200" b="1" dirty="0">
                <a:latin typeface="Times New Roman" panose="02020603050405020304" pitchFamily="18" charset="0"/>
                <a:cs typeface="Times New Roman" panose="02020603050405020304" pitchFamily="18" charset="0"/>
              </a:rPr>
              <a:t>H₀</a:t>
            </a:r>
            <a:r>
              <a:rPr lang="en-US" sz="2200" dirty="0">
                <a:latin typeface="Times New Roman" panose="02020603050405020304" pitchFamily="18" charset="0"/>
                <a:cs typeface="Times New Roman" panose="02020603050405020304" pitchFamily="18" charset="0"/>
              </a:rPr>
              <a:t>: Mean salary for low-experience jobs = high-experience jobs</a:t>
            </a:r>
          </a:p>
          <a:p>
            <a:pPr marL="114300" indent="0">
              <a:buNone/>
            </a:pPr>
            <a:r>
              <a:rPr lang="en-US" sz="2200" b="1" dirty="0">
                <a:latin typeface="Times New Roman" panose="02020603050405020304" pitchFamily="18" charset="0"/>
                <a:cs typeface="Times New Roman" panose="02020603050405020304" pitchFamily="18" charset="0"/>
              </a:rPr>
              <a:t>H₁</a:t>
            </a:r>
            <a:r>
              <a:rPr lang="en-US" sz="2200" dirty="0">
                <a:latin typeface="Times New Roman" panose="02020603050405020304" pitchFamily="18" charset="0"/>
                <a:cs typeface="Times New Roman" panose="02020603050405020304" pitchFamily="18" charset="0"/>
              </a:rPr>
              <a:t>: Mean salary for high-experience jobs &gt; low-experience jobs</a:t>
            </a:r>
          </a:p>
          <a:p>
            <a:pPr marL="114300" indent="0">
              <a:buNone/>
            </a:pPr>
            <a:r>
              <a:rPr lang="en-US" sz="2200" b="1" dirty="0">
                <a:latin typeface="Times New Roman" panose="02020603050405020304" pitchFamily="18" charset="0"/>
                <a:cs typeface="Times New Roman" panose="02020603050405020304" pitchFamily="18" charset="0"/>
              </a:rPr>
              <a:t>Test Type: </a:t>
            </a:r>
            <a:r>
              <a:rPr lang="en-US" sz="2200" dirty="0">
                <a:latin typeface="Times New Roman" panose="02020603050405020304" pitchFamily="18" charset="0"/>
                <a:cs typeface="Times New Roman" panose="02020603050405020304" pitchFamily="18" charset="0"/>
              </a:rPr>
              <a:t>One-tailed T-Test</a:t>
            </a:r>
          </a:p>
          <a:p>
            <a:pPr marL="114300" indent="0">
              <a:buNone/>
            </a:pPr>
            <a:endParaRPr lang="en-US" sz="2200" dirty="0">
              <a:latin typeface="Times New Roman" panose="02020603050405020304" pitchFamily="18" charset="0"/>
              <a:cs typeface="Times New Roman" panose="02020603050405020304" pitchFamily="18" charset="0"/>
            </a:endParaRPr>
          </a:p>
          <a:p>
            <a:pPr marL="114300" indent="0">
              <a:buNone/>
            </a:pPr>
            <a:r>
              <a:rPr lang="en-US" sz="2200" b="1" dirty="0">
                <a:latin typeface="Times New Roman" panose="02020603050405020304" pitchFamily="18" charset="0"/>
                <a:cs typeface="Times New Roman" panose="02020603050405020304" pitchFamily="18" charset="0"/>
              </a:rPr>
              <a:t>T-statistic</a:t>
            </a:r>
            <a:r>
              <a:rPr lang="en-US" sz="2200" dirty="0">
                <a:latin typeface="Times New Roman" panose="02020603050405020304" pitchFamily="18" charset="0"/>
                <a:cs typeface="Times New Roman" panose="02020603050405020304" pitchFamily="18" charset="0"/>
              </a:rPr>
              <a:t>: 1.7857889834923193</a:t>
            </a:r>
          </a:p>
          <a:p>
            <a:pPr marL="114300" indent="0" latinLnBrk="1">
              <a:buNone/>
            </a:pPr>
            <a:r>
              <a:rPr lang="en-US" sz="2200" b="1" dirty="0">
                <a:latin typeface="Times New Roman" panose="02020603050405020304" pitchFamily="18" charset="0"/>
                <a:cs typeface="Times New Roman" panose="02020603050405020304" pitchFamily="18" charset="0"/>
              </a:rPr>
              <a:t>P-value</a:t>
            </a:r>
            <a:r>
              <a:rPr lang="en-US" sz="2200" dirty="0">
                <a:latin typeface="Times New Roman" panose="02020603050405020304" pitchFamily="18" charset="0"/>
                <a:cs typeface="Times New Roman" panose="02020603050405020304" pitchFamily="18" charset="0"/>
              </a:rPr>
              <a:t>: 0.07451034095842601</a:t>
            </a:r>
          </a:p>
          <a:p>
            <a:pPr marL="114300" indent="0" latinLnBrk="1">
              <a:buNone/>
            </a:pPr>
            <a:r>
              <a:rPr lang="en-US" sz="2200" dirty="0">
                <a:latin typeface="Times New Roman" panose="02020603050405020304" pitchFamily="18" charset="0"/>
                <a:cs typeface="Times New Roman" panose="02020603050405020304" pitchFamily="18" charset="0"/>
              </a:rPr>
              <a:t>Fail to Reject H0</a:t>
            </a:r>
          </a:p>
          <a:p>
            <a:pPr marL="114300" indent="0" latinLnBrk="1">
              <a:buNone/>
            </a:pPr>
            <a:endParaRPr lang="en-US" sz="2200" dirty="0">
              <a:latin typeface="Times New Roman" panose="02020603050405020304" pitchFamily="18" charset="0"/>
              <a:cs typeface="Times New Roman" panose="02020603050405020304" pitchFamily="18" charset="0"/>
            </a:endParaRPr>
          </a:p>
          <a:p>
            <a:pPr marL="114300" indent="0">
              <a:buNone/>
            </a:pPr>
            <a:r>
              <a:rPr lang="en-US" sz="2200" b="1" dirty="0">
                <a:latin typeface="Times New Roman" panose="02020603050405020304" pitchFamily="18" charset="0"/>
                <a:cs typeface="Times New Roman" panose="02020603050405020304" pitchFamily="18" charset="0"/>
              </a:rPr>
              <a:t>Insights</a:t>
            </a:r>
            <a:r>
              <a:rPr lang="en-US" sz="2200" dirty="0">
                <a:latin typeface="Times New Roman" panose="02020603050405020304" pitchFamily="18" charset="0"/>
                <a:cs typeface="Times New Roman" panose="02020603050405020304" pitchFamily="18" charset="0"/>
              </a:rPr>
              <a:t>:</a:t>
            </a:r>
          </a:p>
          <a:p>
            <a:r>
              <a:rPr lang="en-US" sz="2200" dirty="0">
                <a:latin typeface="Times New Roman" panose="02020603050405020304" pitchFamily="18" charset="0"/>
                <a:cs typeface="Times New Roman" panose="02020603050405020304" pitchFamily="18" charset="0"/>
              </a:rPr>
              <a:t>No significant salary difference between low- and high-experience jobs at the 5% level.</a:t>
            </a:r>
          </a:p>
          <a:p>
            <a:r>
              <a:rPr lang="en-US" sz="2200" dirty="0">
                <a:latin typeface="Times New Roman" panose="02020603050405020304" pitchFamily="18" charset="0"/>
                <a:cs typeface="Times New Roman" panose="02020603050405020304" pitchFamily="18" charset="0"/>
              </a:rPr>
              <a:t>Higher-experience jobs show a slight upward trend, but evidence is weak.</a:t>
            </a:r>
          </a:p>
          <a:p>
            <a:r>
              <a:rPr lang="en-US" sz="2200" dirty="0">
                <a:latin typeface="Times New Roman" panose="02020603050405020304" pitchFamily="18" charset="0"/>
                <a:cs typeface="Times New Roman" panose="02020603050405020304" pitchFamily="18" charset="0"/>
              </a:rPr>
              <a:t>Salary is influenced more by role, skills, company, and location than experience alone.</a:t>
            </a:r>
          </a:p>
          <a:p>
            <a:pPr marL="114300" indent="0">
              <a:buNone/>
            </a:pPr>
            <a:endParaRPr lang="en-IN" sz="2200" dirty="0">
              <a:latin typeface="Times New Roman" panose="02020603050405020304" pitchFamily="18" charset="0"/>
              <a:cs typeface="Times New Roman" panose="02020603050405020304" pitchFamily="18" charset="0"/>
            </a:endParaRPr>
          </a:p>
          <a:p>
            <a:pPr marL="114300" indent="0">
              <a:buNone/>
            </a:pPr>
            <a:endParaRPr lang="en-IN" sz="2400" dirty="0"/>
          </a:p>
        </p:txBody>
      </p:sp>
    </p:spTree>
    <p:extLst>
      <p:ext uri="{BB962C8B-B14F-4D97-AF65-F5344CB8AC3E}">
        <p14:creationId xmlns:p14="http://schemas.microsoft.com/office/powerpoint/2010/main" val="235564420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18E9E8-7E52-BEFF-FEA1-97E8FDDBA140}"/>
              </a:ext>
            </a:extLst>
          </p:cNvPr>
          <p:cNvSpPr>
            <a:spLocks noGrp="1"/>
          </p:cNvSpPr>
          <p:nvPr>
            <p:ph type="title"/>
          </p:nvPr>
        </p:nvSpPr>
        <p:spPr>
          <a:xfrm>
            <a:off x="838200" y="0"/>
            <a:ext cx="10515600" cy="893403"/>
          </a:xfrm>
        </p:spPr>
        <p:txBody>
          <a:bodyPr>
            <a:normAutofit/>
          </a:bodyPr>
          <a:lstStyle/>
          <a:p>
            <a:r>
              <a:rPr lang="en-US" sz="3200" b="1" dirty="0">
                <a:solidFill>
                  <a:srgbClr val="FF0000"/>
                </a:solidFill>
                <a:latin typeface="Times New Roman" panose="02020603050405020304" pitchFamily="18" charset="0"/>
                <a:cs typeface="Times New Roman" panose="02020603050405020304" pitchFamily="18" charset="0"/>
              </a:rPr>
              <a:t>Insights &amp; Recommendations</a:t>
            </a:r>
            <a:endParaRPr lang="en-IN" sz="3200" b="1" dirty="0">
              <a:solidFill>
                <a:srgbClr val="FF0000"/>
              </a:solidFill>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E02EF425-5B76-699E-35F4-31563EE8E83C}"/>
              </a:ext>
            </a:extLst>
          </p:cNvPr>
          <p:cNvSpPr>
            <a:spLocks noGrp="1"/>
          </p:cNvSpPr>
          <p:nvPr>
            <p:ph type="body" idx="1"/>
          </p:nvPr>
        </p:nvSpPr>
        <p:spPr>
          <a:xfrm>
            <a:off x="639098" y="893402"/>
            <a:ext cx="10515600" cy="5871192"/>
          </a:xfrm>
        </p:spPr>
        <p:txBody>
          <a:bodyPr>
            <a:noAutofit/>
          </a:bodyPr>
          <a:lstStyle/>
          <a:p>
            <a:pPr algn="just">
              <a:lnSpc>
                <a:spcPct val="100000"/>
              </a:lnSpc>
            </a:pPr>
            <a:r>
              <a:rPr lang="en-US" sz="2000" dirty="0">
                <a:latin typeface="Times New Roman" panose="02020603050405020304" pitchFamily="18" charset="0"/>
                <a:cs typeface="Times New Roman" panose="02020603050405020304" pitchFamily="18" charset="0"/>
              </a:rPr>
              <a:t>Data Scientist and Data Analyst positions dominate the job market; targeting these roles increases employability.</a:t>
            </a:r>
          </a:p>
          <a:p>
            <a:pPr algn="just">
              <a:lnSpc>
                <a:spcPct val="100000"/>
              </a:lnSpc>
            </a:pPr>
            <a:r>
              <a:rPr lang="en-US" sz="2000" dirty="0">
                <a:latin typeface="Times New Roman" panose="02020603050405020304" pitchFamily="18" charset="0"/>
                <a:cs typeface="Times New Roman" panose="02020603050405020304" pitchFamily="18" charset="0"/>
              </a:rPr>
              <a:t>Core skills like Python, SQL, Power BI, Machine Learning, and Cloud are essential; emerging skills like AI and Deep Learning are increasingly in demand..</a:t>
            </a:r>
          </a:p>
          <a:p>
            <a:pPr algn="just">
              <a:lnSpc>
                <a:spcPct val="100000"/>
              </a:lnSpc>
            </a:pPr>
            <a:r>
              <a:rPr lang="en-US" sz="2000" dirty="0">
                <a:latin typeface="Times New Roman" panose="02020603050405020304" pitchFamily="18" charset="0"/>
                <a:cs typeface="Times New Roman" panose="02020603050405020304" pitchFamily="18" charset="0"/>
              </a:rPr>
              <a:t> AI, ML, and Cloud-related positions generally offer higher salaries and more specialized career paths.</a:t>
            </a:r>
          </a:p>
          <a:p>
            <a:pPr algn="just">
              <a:lnSpc>
                <a:spcPct val="100000"/>
              </a:lnSpc>
            </a:pPr>
            <a:r>
              <a:rPr lang="en-US" sz="2000" dirty="0">
                <a:latin typeface="Times New Roman" panose="02020603050405020304" pitchFamily="18" charset="0"/>
                <a:cs typeface="Times New Roman" panose="02020603050405020304" pitchFamily="18" charset="0"/>
              </a:rPr>
              <a:t>Firms like TCS, Infosys, and Amazon post multiple roles; applying to such companies increases chances of selection.</a:t>
            </a:r>
          </a:p>
          <a:p>
            <a:pPr algn="just">
              <a:lnSpc>
                <a:spcPct val="100000"/>
              </a:lnSpc>
            </a:pPr>
            <a:r>
              <a:rPr lang="en-US" sz="2000" dirty="0">
                <a:latin typeface="Times New Roman" panose="02020603050405020304" pitchFamily="18" charset="0"/>
                <a:cs typeface="Times New Roman" panose="02020603050405020304" pitchFamily="18" charset="0"/>
              </a:rPr>
              <a:t>Cities like Bangalore, Hyderabad, Pune, and Mumbai have the highest job availability; metro locations often offer better salaries.</a:t>
            </a:r>
          </a:p>
          <a:p>
            <a:pPr algn="just">
              <a:lnSpc>
                <a:spcPct val="100000"/>
              </a:lnSpc>
            </a:pPr>
            <a:r>
              <a:rPr lang="en-US" sz="2000" dirty="0">
                <a:latin typeface="Times New Roman" panose="02020603050405020304" pitchFamily="18" charset="0"/>
                <a:cs typeface="Times New Roman" panose="02020603050405020304" pitchFamily="18" charset="0"/>
              </a:rPr>
              <a:t>Jobs requiring more skills or specialized expertise tend to offer higher growth and compensation opportunities.</a:t>
            </a:r>
          </a:p>
          <a:p>
            <a:pPr algn="just">
              <a:lnSpc>
                <a:spcPct val="100000"/>
              </a:lnSpc>
            </a:pPr>
            <a:r>
              <a:rPr lang="en-US" sz="2000" dirty="0">
                <a:latin typeface="Times New Roman" panose="02020603050405020304" pitchFamily="18" charset="0"/>
                <a:cs typeface="Times New Roman" panose="02020603050405020304" pitchFamily="18" charset="0"/>
              </a:rPr>
              <a:t>Job seekers should focus on building in-demand skills and targeting high-demand roles/locations; companies should benchmark salaries, hire skill-focused talent, and invest in employer branding to attract top candidates.</a:t>
            </a:r>
          </a:p>
          <a:p>
            <a:endParaRPr lang="en-IN" sz="1800" dirty="0"/>
          </a:p>
        </p:txBody>
      </p:sp>
    </p:spTree>
    <p:extLst>
      <p:ext uri="{BB962C8B-B14F-4D97-AF65-F5344CB8AC3E}">
        <p14:creationId xmlns:p14="http://schemas.microsoft.com/office/powerpoint/2010/main" val="7036799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6D7A17-E6F3-04E3-E3A8-C6762C0BB6A0}"/>
              </a:ext>
            </a:extLst>
          </p:cNvPr>
          <p:cNvSpPr>
            <a:spLocks noGrp="1"/>
          </p:cNvSpPr>
          <p:nvPr>
            <p:ph type="title"/>
          </p:nvPr>
        </p:nvSpPr>
        <p:spPr>
          <a:xfrm>
            <a:off x="744682" y="342068"/>
            <a:ext cx="10515600" cy="781845"/>
          </a:xfrm>
        </p:spPr>
        <p:txBody>
          <a:bodyPr>
            <a:normAutofit/>
          </a:bodyPr>
          <a:lstStyle/>
          <a:p>
            <a:r>
              <a:rPr lang="en-US" sz="3200" b="1" dirty="0">
                <a:solidFill>
                  <a:srgbClr val="FF0000"/>
                </a:solidFill>
                <a:latin typeface="Times New Roman" panose="02020603050405020304" pitchFamily="18" charset="0"/>
                <a:cs typeface="Times New Roman" panose="02020603050405020304" pitchFamily="18" charset="0"/>
              </a:rPr>
              <a:t>Challenges</a:t>
            </a:r>
            <a:endParaRPr lang="en-IN" sz="3200" b="1" dirty="0">
              <a:solidFill>
                <a:srgbClr val="FF0000"/>
              </a:solidFill>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CCF9D727-17A2-8B57-B376-03D5145905D7}"/>
              </a:ext>
            </a:extLst>
          </p:cNvPr>
          <p:cNvSpPr>
            <a:spLocks noGrp="1"/>
          </p:cNvSpPr>
          <p:nvPr>
            <p:ph type="body" idx="1"/>
          </p:nvPr>
        </p:nvSpPr>
        <p:spPr>
          <a:xfrm>
            <a:off x="671945" y="983168"/>
            <a:ext cx="10515600" cy="5053950"/>
          </a:xfrm>
        </p:spPr>
        <p:txBody>
          <a:bodyPr>
            <a:noAutofit/>
          </a:bodyPr>
          <a:lstStyle/>
          <a:p>
            <a:pPr marL="114300" indent="0" algn="just">
              <a:lnSpc>
                <a:spcPct val="100000"/>
              </a:lnSpc>
              <a:buNone/>
            </a:pPr>
            <a:r>
              <a:rPr lang="en-US" sz="2300" dirty="0">
                <a:latin typeface="Times New Roman" panose="02020603050405020304" pitchFamily="18" charset="0"/>
                <a:cs typeface="Times New Roman" panose="02020603050405020304" pitchFamily="18" charset="0"/>
              </a:rPr>
              <a:t>During this project, several challenges were encountered from data collection to preprocessing. Scraping job postings from Indeed was difficult due to dynamic content, JavaScript rendering, pagination, and anti-bot mechanisms, which required using tools like Selenium and undetected </a:t>
            </a:r>
            <a:r>
              <a:rPr lang="en-US" sz="2300" dirty="0" err="1">
                <a:latin typeface="Times New Roman" panose="02020603050405020304" pitchFamily="18" charset="0"/>
                <a:cs typeface="Times New Roman" panose="02020603050405020304" pitchFamily="18" charset="0"/>
              </a:rPr>
              <a:t>ChromeDriver</a:t>
            </a:r>
            <a:r>
              <a:rPr lang="en-US" sz="2300" dirty="0">
                <a:latin typeface="Times New Roman" panose="02020603050405020304" pitchFamily="18" charset="0"/>
                <a:cs typeface="Times New Roman" panose="02020603050405020304" pitchFamily="18" charset="0"/>
              </a:rPr>
              <a:t>. Extracting structured information was complicated because salary, experience, and skills were reported in varied formats, necessitating careful parsing and standardization. Many fields contained missing values or duplicates, while categorical data such as job roles, job types, and locations needed consistent naming. Preparing the data for analysis also involved normalizing skills, converting salaries to yearly figures, and aligning experience ranges, ensuring the dataset was clean for statistical analysis and visualization. Finally, creating readable visualizations was challenging due to overlapping labels and outliers, requiring horizontal plots, resizing, and numeric-focused multivariate charts.</a:t>
            </a:r>
            <a:endParaRPr lang="en-IN" sz="23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35977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30F4FF-23C9-8D47-8FD6-1CEAA4A3A03C}"/>
              </a:ext>
            </a:extLst>
          </p:cNvPr>
          <p:cNvSpPr>
            <a:spLocks noGrp="1"/>
          </p:cNvSpPr>
          <p:nvPr>
            <p:ph type="title"/>
          </p:nvPr>
        </p:nvSpPr>
        <p:spPr>
          <a:xfrm>
            <a:off x="734291" y="18255"/>
            <a:ext cx="10515600" cy="1010445"/>
          </a:xfrm>
        </p:spPr>
        <p:txBody>
          <a:bodyPr>
            <a:normAutofit/>
          </a:bodyPr>
          <a:lstStyle/>
          <a:p>
            <a:r>
              <a:rPr lang="en-US" sz="3200" b="1" dirty="0">
                <a:solidFill>
                  <a:srgbClr val="FF0000"/>
                </a:solidFill>
                <a:latin typeface="Times New Roman" panose="02020603050405020304" pitchFamily="18" charset="0"/>
                <a:cs typeface="Times New Roman" panose="02020603050405020304" pitchFamily="18" charset="0"/>
              </a:rPr>
              <a:t>Conclusion</a:t>
            </a:r>
            <a:endParaRPr lang="en-IN" sz="3200" b="1" dirty="0">
              <a:solidFill>
                <a:srgbClr val="FF0000"/>
              </a:solidFill>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EB5C705D-0454-877E-C02E-F791B058CFBE}"/>
              </a:ext>
            </a:extLst>
          </p:cNvPr>
          <p:cNvSpPr>
            <a:spLocks noGrp="1"/>
          </p:cNvSpPr>
          <p:nvPr>
            <p:ph type="body" idx="1"/>
          </p:nvPr>
        </p:nvSpPr>
        <p:spPr>
          <a:xfrm>
            <a:off x="619991" y="1028701"/>
            <a:ext cx="10515600" cy="2845210"/>
          </a:xfrm>
        </p:spPr>
        <p:txBody>
          <a:bodyPr/>
          <a:lstStyle/>
          <a:p>
            <a:pPr marL="114300" indent="0" algn="just">
              <a:buNone/>
            </a:pPr>
            <a:r>
              <a:rPr lang="en-US" sz="2400" dirty="0">
                <a:latin typeface="Times New Roman" panose="02020603050405020304" pitchFamily="18" charset="0"/>
                <a:cs typeface="Times New Roman" panose="02020603050405020304" pitchFamily="18" charset="0"/>
              </a:rPr>
              <a:t>The project analyzed Indian job postings to uncover trends in demand, salaries, skills, and locations. AI, Machine Learning, Data Science, and Cloud roles dominate demand and offer the highest salaries. Experience and skill count strongly influence compensation, while entry-level salaries remain lower. Metro cities like Bangalore, Hyderabad, Pune, and Mumbai provide the most opportunities and better pay. The findings help job seekers focus on in-demand roles and skills.</a:t>
            </a:r>
            <a:endParaRPr lang="en-IN" dirty="0"/>
          </a:p>
        </p:txBody>
      </p:sp>
    </p:spTree>
    <p:extLst>
      <p:ext uri="{BB962C8B-B14F-4D97-AF65-F5344CB8AC3E}">
        <p14:creationId xmlns:p14="http://schemas.microsoft.com/office/powerpoint/2010/main" val="292093845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pic>
        <p:nvPicPr>
          <p:cNvPr id="116" name="Google Shape;116;p5"/>
          <p:cNvPicPr preferRelativeResize="0"/>
          <p:nvPr/>
        </p:nvPicPr>
        <p:blipFill rotWithShape="1">
          <a:blip r:embed="rId3">
            <a:alphaModFix/>
          </a:blip>
          <a:srcRect/>
          <a:stretch/>
        </p:blipFill>
        <p:spPr>
          <a:xfrm>
            <a:off x="6466516" y="1850749"/>
            <a:ext cx="4465643" cy="2834317"/>
          </a:xfrm>
          <a:prstGeom prst="rect">
            <a:avLst/>
          </a:prstGeom>
          <a:noFill/>
          <a:ln>
            <a:noFill/>
          </a:ln>
        </p:spPr>
      </p:pic>
      <p:sp>
        <p:nvSpPr>
          <p:cNvPr id="117" name="Google Shape;117;p5"/>
          <p:cNvSpPr txBox="1"/>
          <p:nvPr/>
        </p:nvSpPr>
        <p:spPr>
          <a:xfrm>
            <a:off x="1244600" y="2997200"/>
            <a:ext cx="3661836" cy="76944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C00000"/>
              </a:buClr>
              <a:buSzPts val="4400"/>
              <a:buFont typeface="Libre Baskerville"/>
              <a:buNone/>
            </a:pPr>
            <a:r>
              <a:rPr lang="en-IN" sz="4400" b="0" i="0" u="none" strike="noStrike" cap="none">
                <a:solidFill>
                  <a:srgbClr val="C00000"/>
                </a:solidFill>
                <a:latin typeface="Libre Baskerville"/>
                <a:ea typeface="Libre Baskerville"/>
                <a:cs typeface="Libre Baskerville"/>
                <a:sym typeface="Libre Baskerville"/>
              </a:rPr>
              <a:t>THANK YOU</a:t>
            </a: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1485</TotalTime>
  <Words>1201</Words>
  <Application>Microsoft Office PowerPoint</Application>
  <PresentationFormat>Widescreen</PresentationFormat>
  <Paragraphs>102</Paragraphs>
  <Slides>19</Slides>
  <Notes>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Times New Roman</vt:lpstr>
      <vt:lpstr>Arial</vt:lpstr>
      <vt:lpstr>Calibri</vt:lpstr>
      <vt:lpstr>Libre Baskerville</vt:lpstr>
      <vt:lpstr>Office Theme</vt:lpstr>
      <vt:lpstr>PowerPoint Presentation</vt:lpstr>
      <vt:lpstr>Agenda (This should be the PPT flow)  </vt:lpstr>
      <vt:lpstr>Business Problem</vt:lpstr>
      <vt:lpstr>Problem Statement</vt:lpstr>
      <vt:lpstr>Business Objectives</vt:lpstr>
      <vt:lpstr> Data Preprocessing </vt:lpstr>
      <vt:lpstr>Analysis and Interpretation </vt:lpstr>
      <vt:lpstr> Companies Hiring the Most</vt:lpstr>
      <vt:lpstr> Skills in Demand</vt:lpstr>
      <vt:lpstr>Job availability by Location</vt:lpstr>
      <vt:lpstr>Bi-Variate Analysis</vt:lpstr>
      <vt:lpstr>Salary Comparison Across Locations</vt:lpstr>
      <vt:lpstr>Experience vs Salary </vt:lpstr>
      <vt:lpstr>Hypothesis Testing</vt:lpstr>
      <vt:lpstr>Do jobs requiring higher experience pay more?</vt:lpstr>
      <vt:lpstr>Insights &amp; Recommendations</vt:lpstr>
      <vt:lpstr>Challenges</vt:lpstr>
      <vt:lpstr>Conclusion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Raghu Ram Aduri</dc:creator>
  <cp:lastModifiedBy>Darshanam Vamshi</cp:lastModifiedBy>
  <cp:revision>4</cp:revision>
  <dcterms:created xsi:type="dcterms:W3CDTF">2021-02-16T05:19:01Z</dcterms:created>
  <dcterms:modified xsi:type="dcterms:W3CDTF">2026-01-31T12:13:58Z</dcterms:modified>
</cp:coreProperties>
</file>